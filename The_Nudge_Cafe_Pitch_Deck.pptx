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2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FE4701-A1A9-40B5-82D3-03DA4167155D}" v="42" dt="2026-07-16T04:53:18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 S" userId="5fc2ea72e888630e" providerId="LiveId" clId="{AC58CECF-1CF9-45F5-8931-93B6FABAEE78}"/>
    <pc:docChg chg="undo custSel modSld">
      <pc:chgData name="N S" userId="5fc2ea72e888630e" providerId="LiveId" clId="{AC58CECF-1CF9-45F5-8931-93B6FABAEE78}" dt="2026-07-16T04:54:58.239" v="191" actId="1076"/>
      <pc:docMkLst>
        <pc:docMk/>
      </pc:docMkLst>
      <pc:sldChg chg="addSp modSp mod">
        <pc:chgData name="N S" userId="5fc2ea72e888630e" providerId="LiveId" clId="{AC58CECF-1CF9-45F5-8931-93B6FABAEE78}" dt="2026-07-16T04:54:58.239" v="191" actId="1076"/>
        <pc:sldMkLst>
          <pc:docMk/>
          <pc:sldMk cId="0" sldId="256"/>
        </pc:sldMkLst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2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3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4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5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7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N S" userId="5fc2ea72e888630e" providerId="LiveId" clId="{AC58CECF-1CF9-45F5-8931-93B6FABAEE78}" dt="2026-07-16T04:53:18.915" v="115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N S" userId="5fc2ea72e888630e" providerId="LiveId" clId="{AC58CECF-1CF9-45F5-8931-93B6FABAEE78}" dt="2026-07-16T04:54:47.225" v="189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 S" userId="5fc2ea72e888630e" providerId="LiveId" clId="{AC58CECF-1CF9-45F5-8931-93B6FABAEE78}" dt="2026-07-16T04:54:28.745" v="186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 S" userId="5fc2ea72e888630e" providerId="LiveId" clId="{AC58CECF-1CF9-45F5-8931-93B6FABAEE78}" dt="2026-07-16T04:54:58.239" v="191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 S" userId="5fc2ea72e888630e" providerId="LiveId" clId="{AC58CECF-1CF9-45F5-8931-93B6FABAEE78}" dt="2026-07-16T04:54:20.747" v="185" actId="1076"/>
          <ac:spMkLst>
            <pc:docMk/>
            <pc:sldMk cId="0" sldId="256"/>
            <ac:spMk id="15" creationId="{10149518-EF22-12CB-D680-481CEFCF0D6A}"/>
          </ac:spMkLst>
        </pc:spChg>
        <pc:grpChg chg="add mod">
          <ac:chgData name="N S" userId="5fc2ea72e888630e" providerId="LiveId" clId="{AC58CECF-1CF9-45F5-8931-93B6FABAEE78}" dt="2026-07-16T04:54:37.632" v="188" actId="1076"/>
          <ac:grpSpMkLst>
            <pc:docMk/>
            <pc:sldMk cId="0" sldId="256"/>
            <ac:grpSpMk id="18" creationId="{0DF59375-DD38-6814-9C60-FC3C60BE7456}"/>
          </ac:grpSpMkLst>
        </pc:grpChg>
        <pc:picChg chg="add mod ord">
          <ac:chgData name="N S" userId="5fc2ea72e888630e" providerId="LiveId" clId="{AC58CECF-1CF9-45F5-8931-93B6FABAEE78}" dt="2026-07-16T04:53:27.770" v="117" actId="1076"/>
          <ac:picMkLst>
            <pc:docMk/>
            <pc:sldMk cId="0" sldId="256"/>
            <ac:picMk id="17" creationId="{3E30AAA9-6248-10A0-E23B-B9BD8EC185F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2317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3B2317"/>
                </a:solidFill>
                <a:latin typeface="Calibri"/>
              </a:rPr>
              <a:t>Market size, 2026 → 2031 (USD Billion)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cafés &amp; bars (USD B)</c:v>
                </c:pt>
              </c:strCache>
            </c:strRef>
          </c:tx>
          <c:spPr>
            <a:solidFill>
              <a:srgbClr val="3B23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E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</c:v>
                </c:pt>
                <c:pt idx="1">
                  <c:v>2031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20.51</c:v>
                </c:pt>
                <c:pt idx="1">
                  <c:v>31.47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25-486A-A894-7869B2EB36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 specialty coffee (USD B)</c:v>
                </c:pt>
              </c:strCache>
            </c:strRef>
          </c:tx>
          <c:spPr>
            <a:solidFill>
              <a:srgbClr val="E8630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E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2026</c:v>
                </c:pt>
                <c:pt idx="1">
                  <c:v>2031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3.44</c:v>
                </c:pt>
                <c:pt idx="1">
                  <c:v>6.52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25-486A-A894-7869B2EB36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A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C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4A3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91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B480-D92D-9E9B-AB5A-075511DF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6C453-173F-2231-29BC-47D08097E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C0773-711C-3FB7-C561-D6A97E4A2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0B556-DAC7-F109-C672-024E81F4C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4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D5826-F7B6-BC3D-FA7E-2E9A3665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6FEFC-03E0-7B0B-851E-9C39271ED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64CFE-B865-E52A-1EFD-E2DC7D1A0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106BE-EA33-EF16-B370-B866678F1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9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E30AAA9-6248-10A0-E23B-B9BD8EC185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7402" y1="38086" x2="37402" y2="37402"/>
                        <a14:foregroundMark x1="57324" y1="40625" x2="55859" y2="442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15264" y="-370840"/>
            <a:ext cx="6634480" cy="663448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DF59375-DD38-6814-9C60-FC3C60BE7456}"/>
              </a:ext>
            </a:extLst>
          </p:cNvPr>
          <p:cNvGrpSpPr/>
          <p:nvPr/>
        </p:nvGrpSpPr>
        <p:grpSpPr>
          <a:xfrm>
            <a:off x="6444996" y="1746454"/>
            <a:ext cx="4617720" cy="1051560"/>
            <a:chOff x="3785616" y="914400"/>
            <a:chExt cx="4617720" cy="1051560"/>
          </a:xfrm>
        </p:grpSpPr>
        <p:sp>
          <p:nvSpPr>
            <p:cNvPr id="2" name="Shape 0"/>
            <p:cNvSpPr/>
            <p:nvPr/>
          </p:nvSpPr>
          <p:spPr>
            <a:xfrm>
              <a:off x="3968496" y="914400"/>
              <a:ext cx="822960" cy="822960"/>
            </a:xfrm>
            <a:prstGeom prst="ellipse">
              <a:avLst/>
            </a:prstGeom>
            <a:solidFill>
              <a:srgbClr val="4B3F72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3785616" y="1691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C79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FOCUS</a:t>
              </a:r>
              <a:endParaRPr lang="en-US" sz="1000" dirty="0"/>
            </a:p>
          </p:txBody>
        </p:sp>
        <p:sp>
          <p:nvSpPr>
            <p:cNvPr id="4" name="Shape 2"/>
            <p:cNvSpPr/>
            <p:nvPr/>
          </p:nvSpPr>
          <p:spPr>
            <a:xfrm>
              <a:off x="5111496" y="914400"/>
              <a:ext cx="822960" cy="822960"/>
            </a:xfrm>
            <a:prstGeom prst="ellipse">
              <a:avLst/>
            </a:prstGeom>
            <a:solidFill>
              <a:srgbClr val="E8546B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4928616" y="1691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C79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GATHER</a:t>
              </a:r>
              <a:endParaRPr lang="en-US" sz="1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6254496" y="914400"/>
              <a:ext cx="822960" cy="822960"/>
            </a:xfrm>
            <a:prstGeom prst="ellipse">
              <a:avLst/>
            </a:prstGeom>
            <a:solidFill>
              <a:srgbClr val="A26769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6071616" y="1691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C79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7397496" y="914400"/>
              <a:ext cx="822960" cy="822960"/>
            </a:xfrm>
            <a:prstGeom prst="ellipse">
              <a:avLst/>
            </a:prstGeom>
            <a:solidFill>
              <a:srgbClr val="3F6659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7214616" y="1691640"/>
              <a:ext cx="1188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kern="0" spc="200" dirty="0">
                  <a:solidFill>
                    <a:srgbClr val="C79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CALM</a:t>
              </a:r>
              <a:endParaRPr lang="en-US" sz="1000" dirty="0"/>
            </a:p>
          </p:txBody>
        </p:sp>
      </p:grpSp>
      <p:sp>
        <p:nvSpPr>
          <p:cNvPr id="10" name="Text 8"/>
          <p:cNvSpPr/>
          <p:nvPr/>
        </p:nvSpPr>
        <p:spPr>
          <a:xfrm>
            <a:off x="3413760" y="426992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NUDGE CAFÉ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962400" y="4274888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79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café that asks how you feel — then builds the room around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-1527048" y="62611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7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Sharma — Founder</a:t>
            </a:r>
            <a:endParaRPr lang="en-US" sz="11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0149518-EF22-12CB-D680-481CEFCF0D6A}"/>
              </a:ext>
            </a:extLst>
          </p:cNvPr>
          <p:cNvSpPr/>
          <p:nvPr/>
        </p:nvSpPr>
        <p:spPr>
          <a:xfrm>
            <a:off x="5299456" y="5085012"/>
            <a:ext cx="663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of questions. A seat, a color, a pattern — matched to your mood.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Coffee, engineered around the psychology of the room.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95BDE37D-27AA-3619-750F-AB74F2BD9F84}"/>
              </a:ext>
            </a:extLst>
          </p:cNvPr>
          <p:cNvSpPr/>
          <p:nvPr/>
        </p:nvSpPr>
        <p:spPr>
          <a:xfrm>
            <a:off x="452628" y="1032867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table looks the same — but no two visits are</a:t>
            </a:r>
            <a:endParaRPr lang="en-US" sz="30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23370A4F-6297-4753-8174-9748716657F3}"/>
              </a:ext>
            </a:extLst>
          </p:cNvPr>
          <p:cNvSpPr/>
          <p:nvPr/>
        </p:nvSpPr>
        <p:spPr>
          <a:xfrm>
            <a:off x="315468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320-student caffeine survey (MSU Baroda, 2024): higher intake tracked with less sleep and sharper exam-day focus — mood and beverage are already linked. Cafés just aren’t designed around it.</a:t>
            </a:r>
            <a:endParaRPr lang="en-US" sz="115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8B96272-B39E-1516-C431-A84CE5F6709D}"/>
              </a:ext>
            </a:extLst>
          </p:cNvPr>
          <p:cNvGrpSpPr/>
          <p:nvPr/>
        </p:nvGrpSpPr>
        <p:grpSpPr>
          <a:xfrm>
            <a:off x="640080" y="2546430"/>
            <a:ext cx="11109960" cy="2757090"/>
            <a:chOff x="640080" y="2546430"/>
            <a:chExt cx="11109960" cy="2757090"/>
          </a:xfrm>
        </p:grpSpPr>
        <p:sp>
          <p:nvSpPr>
            <p:cNvPr id="31" name="Shape 2">
              <a:extLst>
                <a:ext uri="{FF2B5EF4-FFF2-40B4-BE49-F238E27FC236}">
                  <a16:creationId xmlns:a16="http://schemas.microsoft.com/office/drawing/2014/main" id="{1C5DF4C9-0EAA-22DD-59C0-8691F52061D4}"/>
                </a:ext>
              </a:extLst>
            </p:cNvPr>
            <p:cNvSpPr/>
            <p:nvPr/>
          </p:nvSpPr>
          <p:spPr>
            <a:xfrm>
              <a:off x="640080" y="2546430"/>
              <a:ext cx="3520440" cy="2619930"/>
            </a:xfrm>
            <a:prstGeom prst="roundRect">
              <a:avLst>
                <a:gd name="adj" fmla="val 3117"/>
              </a:avLst>
            </a:prstGeom>
            <a:solidFill>
              <a:srgbClr val="EAE0D2"/>
            </a:solidFill>
            <a:ln/>
          </p:spPr>
        </p:sp>
        <p:pic>
          <p:nvPicPr>
            <p:cNvPr id="32" name="Image 0" descr="clipboard_espresso.png">
              <a:extLst>
                <a:ext uri="{FF2B5EF4-FFF2-40B4-BE49-F238E27FC236}">
                  <a16:creationId xmlns:a16="http://schemas.microsoft.com/office/drawing/2014/main" id="{D92D5BCC-F39F-45DD-059F-EE5D2A74E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00" y="2734056"/>
              <a:ext cx="429768" cy="429768"/>
            </a:xfrm>
            <a:prstGeom prst="rect">
              <a:avLst/>
            </a:prstGeom>
          </p:spPr>
        </p:pic>
        <p:sp>
          <p:nvSpPr>
            <p:cNvPr id="33" name="Text 4">
              <a:extLst>
                <a:ext uri="{FF2B5EF4-FFF2-40B4-BE49-F238E27FC236}">
                  <a16:creationId xmlns:a16="http://schemas.microsoft.com/office/drawing/2014/main" id="{D00F30A9-2864-8771-2DB1-6A72C8EC2A2D}"/>
                </a:ext>
              </a:extLst>
            </p:cNvPr>
            <p:cNvSpPr/>
            <p:nvPr/>
          </p:nvSpPr>
          <p:spPr>
            <a:xfrm>
              <a:off x="914400" y="3200400"/>
              <a:ext cx="2971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700" b="1" dirty="0">
                  <a:solidFill>
                    <a:srgbClr val="21120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One layout, every mood</a:t>
              </a:r>
              <a:endParaRPr lang="en-US" sz="1700" dirty="0"/>
            </a:p>
          </p:txBody>
        </p:sp>
        <p:sp>
          <p:nvSpPr>
            <p:cNvPr id="34" name="Text 5">
              <a:extLst>
                <a:ext uri="{FF2B5EF4-FFF2-40B4-BE49-F238E27FC236}">
                  <a16:creationId xmlns:a16="http://schemas.microsoft.com/office/drawing/2014/main" id="{1862A443-F448-8733-283D-E23704D056A5}"/>
                </a:ext>
              </a:extLst>
            </p:cNvPr>
            <p:cNvSpPr/>
            <p:nvPr/>
          </p:nvSpPr>
          <p:spPr>
            <a:xfrm>
              <a:off x="914400" y="3840480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5A48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person cramming for finals and the couple on a first date get the exact same hard chair, same lighting, same noise.</a:t>
              </a:r>
              <a:endParaRPr lang="en-US" sz="1250" dirty="0"/>
            </a:p>
          </p:txBody>
        </p:sp>
        <p:sp>
          <p:nvSpPr>
            <p:cNvPr id="35" name="Shape 6">
              <a:extLst>
                <a:ext uri="{FF2B5EF4-FFF2-40B4-BE49-F238E27FC236}">
                  <a16:creationId xmlns:a16="http://schemas.microsoft.com/office/drawing/2014/main" id="{B169CEFF-44D6-E96C-4FF4-DBC394D7350A}"/>
                </a:ext>
              </a:extLst>
            </p:cNvPr>
            <p:cNvSpPr/>
            <p:nvPr/>
          </p:nvSpPr>
          <p:spPr>
            <a:xfrm>
              <a:off x="4434840" y="2546430"/>
              <a:ext cx="3520440" cy="2619930"/>
            </a:xfrm>
            <a:prstGeom prst="roundRect">
              <a:avLst>
                <a:gd name="adj" fmla="val 3117"/>
              </a:avLst>
            </a:prstGeom>
            <a:solidFill>
              <a:srgbClr val="EAE0D2"/>
            </a:solidFill>
            <a:ln/>
          </p:spPr>
        </p:sp>
        <p:pic>
          <p:nvPicPr>
            <p:cNvPr id="36" name="Image 1" descr="coffee_espresso.png">
              <a:extLst>
                <a:ext uri="{FF2B5EF4-FFF2-40B4-BE49-F238E27FC236}">
                  <a16:creationId xmlns:a16="http://schemas.microsoft.com/office/drawing/2014/main" id="{0528BF06-3015-C23B-1997-77542D7E1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9160" y="2734056"/>
              <a:ext cx="429768" cy="429768"/>
            </a:xfrm>
            <a:prstGeom prst="rect">
              <a:avLst/>
            </a:prstGeom>
          </p:spPr>
        </p:pic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8A21A63A-C906-C102-4F56-97A7F46B056B}"/>
                </a:ext>
              </a:extLst>
            </p:cNvPr>
            <p:cNvSpPr/>
            <p:nvPr/>
          </p:nvSpPr>
          <p:spPr>
            <a:xfrm>
              <a:off x="4709160" y="3200400"/>
              <a:ext cx="2971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700" b="1" dirty="0">
                  <a:solidFill>
                    <a:srgbClr val="21120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Caffeine without context</a:t>
              </a:r>
              <a:endParaRPr lang="en-US" sz="17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11DE50C6-5A1A-BFB1-6285-7D88FBDEF99C}"/>
                </a:ext>
              </a:extLst>
            </p:cNvPr>
            <p:cNvSpPr/>
            <p:nvPr/>
          </p:nvSpPr>
          <p:spPr>
            <a:xfrm>
              <a:off x="4709160" y="3840480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5A48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Menus push the same drinks regardless of whether you need to focus, unwind, or stay up late — no link between intake and intent.</a:t>
              </a:r>
              <a:endParaRPr lang="en-US" sz="1250" dirty="0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2566E1E9-C190-5F13-0AF7-B2F87E8ADABA}"/>
                </a:ext>
              </a:extLst>
            </p:cNvPr>
            <p:cNvSpPr/>
            <p:nvPr/>
          </p:nvSpPr>
          <p:spPr>
            <a:xfrm>
              <a:off x="8229600" y="2546430"/>
              <a:ext cx="3520440" cy="2619930"/>
            </a:xfrm>
            <a:prstGeom prst="roundRect">
              <a:avLst>
                <a:gd name="adj" fmla="val 3117"/>
              </a:avLst>
            </a:prstGeom>
            <a:solidFill>
              <a:srgbClr val="EAE0D2"/>
            </a:solidFill>
            <a:ln/>
          </p:spPr>
        </p:sp>
        <p:pic>
          <p:nvPicPr>
            <p:cNvPr id="40" name="Image 2" descr="grid_espresso.png">
              <a:extLst>
                <a:ext uri="{FF2B5EF4-FFF2-40B4-BE49-F238E27FC236}">
                  <a16:creationId xmlns:a16="http://schemas.microsoft.com/office/drawing/2014/main" id="{50A39E85-31AB-5D60-FD81-287B7E9D4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03920" y="2794765"/>
              <a:ext cx="429768" cy="429768"/>
            </a:xfrm>
            <a:prstGeom prst="rect">
              <a:avLst/>
            </a:prstGeom>
          </p:spPr>
        </p:pic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FCABDB1D-9352-498F-5DD0-EC15130AE0F3}"/>
                </a:ext>
              </a:extLst>
            </p:cNvPr>
            <p:cNvSpPr/>
            <p:nvPr/>
          </p:nvSpPr>
          <p:spPr>
            <a:xfrm>
              <a:off x="8503920" y="3200400"/>
              <a:ext cx="29718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700" b="1" dirty="0">
                  <a:solidFill>
                    <a:srgbClr val="21120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Seating is a coin flip</a:t>
              </a:r>
              <a:endParaRPr lang="en-US" sz="1700" dirty="0"/>
            </a:p>
          </p:txBody>
        </p:sp>
        <p:sp>
          <p:nvSpPr>
            <p:cNvPr id="42" name="Text 13">
              <a:extLst>
                <a:ext uri="{FF2B5EF4-FFF2-40B4-BE49-F238E27FC236}">
                  <a16:creationId xmlns:a16="http://schemas.microsoft.com/office/drawing/2014/main" id="{B4962744-21E9-08A8-8370-00B87C8A63E9}"/>
                </a:ext>
              </a:extLst>
            </p:cNvPr>
            <p:cNvSpPr/>
            <p:nvPr/>
          </p:nvSpPr>
          <p:spPr>
            <a:xfrm>
              <a:off x="8503920" y="3840480"/>
              <a:ext cx="297180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250" dirty="0">
                  <a:solidFill>
                    <a:srgbClr val="5A483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Customers self-seat by whatever’s free, not what actually helps them — wrong seat, shorter visit, lower spend.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Mood, environment, and consumption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already linked — the data says so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psychology has long shown that seating shape, color, and pattern shift arousal and behavior — round forms invite gathering, saturated color sharpens alertness, soft curves lower it. What's been missing is pairing that with a direct, honest read of the person sitting down.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pairing isn't a guess for us — it's the founder's own published research.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6675120" cy="1737360"/>
          </a:xfrm>
          <a:prstGeom prst="roundRect">
            <a:avLst>
              <a:gd name="adj" fmla="val 5263"/>
            </a:avLst>
          </a:prstGeom>
          <a:solidFill>
            <a:srgbClr val="F7F3EE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4553712"/>
            <a:ext cx="548640" cy="54864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9" name="Image 0" descr="/home/claude/nudge-cafe/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67258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45537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“The ABC Insights” — a 320-student consumption study co-authored by the founder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17320" y="4983480"/>
            <a:ext cx="5532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Exam-day intake was significantly higher than regular days (Wilcoxon rank test) · shorter sleep tracked with higher intake (Kruskal-Wallis + Jonckheere-Terpstra trend) · self-reported focus rose with intake during exams — the exact mood/motive states this café is designed to read.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850392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studied,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lab-verified data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03920" y="2606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850392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behavior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confirmed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503920" y="4206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8503920" y="4983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today that</a:t>
            </a:r>
            <a:endParaRPr lang="en-US" sz="12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mood on entry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first. Seat second.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45-second check-in at entry drives everything that happens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78608" cy="3566160"/>
          </a:xfrm>
          <a:prstGeom prst="roundRect">
            <a:avLst>
              <a:gd name="adj" fmla="val 3546"/>
            </a:avLst>
          </a:prstGeom>
          <a:solidFill>
            <a:srgbClr val="F7F3EE"/>
          </a:solidFill>
          <a:ln/>
        </p:spPr>
      </p:sp>
      <p:sp>
        <p:nvSpPr>
          <p:cNvPr id="7" name="Shape 5"/>
          <p:cNvSpPr/>
          <p:nvPr/>
        </p:nvSpPr>
        <p:spPr>
          <a:xfrm>
            <a:off x="1357884" y="2606040"/>
            <a:ext cx="777240" cy="77724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8" name="Image 0" descr="/home/claude/nudge-cafe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7797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4023360"/>
            <a:ext cx="212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Likert-scale survey on a QR/tablet: mood, energy, motive, social goal.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35808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55848" y="2286000"/>
            <a:ext cx="2578608" cy="3566160"/>
          </a:xfrm>
          <a:prstGeom prst="roundRect">
            <a:avLst>
              <a:gd name="adj" fmla="val 3546"/>
            </a:avLst>
          </a:prstGeom>
          <a:solidFill>
            <a:srgbClr val="F7F3EE"/>
          </a:solidFill>
          <a:ln/>
        </p:spPr>
      </p:sp>
      <p:sp>
        <p:nvSpPr>
          <p:cNvPr id="14" name="Shape 11"/>
          <p:cNvSpPr/>
          <p:nvPr/>
        </p:nvSpPr>
        <p:spPr>
          <a:xfrm>
            <a:off x="4256532" y="2606040"/>
            <a:ext cx="777240" cy="77724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15" name="Image 1" descr="/home/claude/nudge-cafe/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77977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65576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38728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584448" y="4023360"/>
            <a:ext cx="212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rules engine (built to graduate into ML) scores each axis.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934456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254496" y="2286000"/>
            <a:ext cx="2578608" cy="3566160"/>
          </a:xfrm>
          <a:prstGeom prst="roundRect">
            <a:avLst>
              <a:gd name="adj" fmla="val 3546"/>
            </a:avLst>
          </a:prstGeom>
          <a:solidFill>
            <a:srgbClr val="F7F3EE"/>
          </a:solidFill>
          <a:ln/>
        </p:spPr>
      </p:sp>
      <p:sp>
        <p:nvSpPr>
          <p:cNvPr id="21" name="Shape 17"/>
          <p:cNvSpPr/>
          <p:nvPr/>
        </p:nvSpPr>
        <p:spPr>
          <a:xfrm>
            <a:off x="7155180" y="2606040"/>
            <a:ext cx="777240" cy="77724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22" name="Image 2" descr="/home/claude/nudge-cafe/icons/bulls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916" y="2779776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64224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437376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483096" y="4023360"/>
            <a:ext cx="212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matched to one of four zones — no queue, no menu confusion.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8833104" y="37947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153144" y="2286000"/>
            <a:ext cx="2578608" cy="3566160"/>
          </a:xfrm>
          <a:prstGeom prst="roundRect">
            <a:avLst>
              <a:gd name="adj" fmla="val 3546"/>
            </a:avLst>
          </a:prstGeom>
          <a:solidFill>
            <a:srgbClr val="F7F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10053828" y="2606040"/>
            <a:ext cx="777240" cy="77724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29" name="Image 3" descr="/home/claude/nudge-cafe/icons/coffe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7564" y="2779776"/>
            <a:ext cx="429768" cy="4297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62872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336024" y="356616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381744" y="4023360"/>
            <a:ext cx="21214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Seating, lighting, and menu are already tuned before they sit down.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2A46AFC5-AF47-B814-D293-FD9CC45CBFED}"/>
              </a:ext>
            </a:extLst>
          </p:cNvPr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532BA0EC-CAF6-1AAF-BFE0-97001DF4C592}"/>
              </a:ext>
            </a:extLst>
          </p:cNvPr>
          <p:cNvSpPr/>
          <p:nvPr/>
        </p:nvSpPr>
        <p:spPr>
          <a:xfrm>
            <a:off x="640080" y="8229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questions. Sixty-degree seating decision.</a:t>
            </a:r>
            <a:endParaRPr lang="en-US" sz="270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D8D63C05-7194-706F-16D3-9580D6DB3D4E}"/>
              </a:ext>
            </a:extLst>
          </p:cNvPr>
          <p:cNvSpPr/>
          <p:nvPr/>
        </p:nvSpPr>
        <p:spPr>
          <a:xfrm>
            <a:off x="64008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/ QR check-in — sample question set</a:t>
            </a:r>
            <a:endParaRPr lang="en-US" sz="125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F4B232BF-8533-5C93-B8E8-7F471356D570}"/>
              </a:ext>
            </a:extLst>
          </p:cNvPr>
          <p:cNvSpPr/>
          <p:nvPr/>
        </p:nvSpPr>
        <p:spPr>
          <a:xfrm>
            <a:off x="640080" y="21031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your mood right now?</a:t>
            </a:r>
            <a:endParaRPr lang="en-US" sz="1300" dirty="0"/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57DEC660-6830-C0C8-D8E0-334D0FC4BBE7}"/>
              </a:ext>
            </a:extLst>
          </p:cNvPr>
          <p:cNvSpPr/>
          <p:nvPr/>
        </p:nvSpPr>
        <p:spPr>
          <a:xfrm>
            <a:off x="640080" y="2450592"/>
            <a:ext cx="70866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1AB89175-8799-7FB1-F3B7-ED623D16FF76}"/>
              </a:ext>
            </a:extLst>
          </p:cNvPr>
          <p:cNvSpPr/>
          <p:nvPr/>
        </p:nvSpPr>
        <p:spPr>
          <a:xfrm>
            <a:off x="640080" y="2450592"/>
            <a:ext cx="708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17AC58BA-1399-85F7-BE8A-B700C71D579D}"/>
              </a:ext>
            </a:extLst>
          </p:cNvPr>
          <p:cNvSpPr/>
          <p:nvPr/>
        </p:nvSpPr>
        <p:spPr>
          <a:xfrm>
            <a:off x="1485900" y="2450592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D3DA89EE-776D-4DA1-4B56-DBFA3D7FF70F}"/>
              </a:ext>
            </a:extLst>
          </p:cNvPr>
          <p:cNvSpPr/>
          <p:nvPr/>
        </p:nvSpPr>
        <p:spPr>
          <a:xfrm>
            <a:off x="1485900" y="2450592"/>
            <a:ext cx="98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50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3F0C6C9B-68BA-B18B-4C43-AC6B41586944}"/>
              </a:ext>
            </a:extLst>
          </p:cNvPr>
          <p:cNvSpPr/>
          <p:nvPr/>
        </p:nvSpPr>
        <p:spPr>
          <a:xfrm>
            <a:off x="2606040" y="245059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F20D5370-5A3D-1429-0AC9-E2266E324EEF}"/>
              </a:ext>
            </a:extLst>
          </p:cNvPr>
          <p:cNvSpPr/>
          <p:nvPr/>
        </p:nvSpPr>
        <p:spPr>
          <a:xfrm>
            <a:off x="2606040" y="24505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E4205952-2518-E8E5-A980-8C7652DF835C}"/>
              </a:ext>
            </a:extLst>
          </p:cNvPr>
          <p:cNvSpPr/>
          <p:nvPr/>
        </p:nvSpPr>
        <p:spPr>
          <a:xfrm>
            <a:off x="640080" y="29443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you here today?</a:t>
            </a:r>
            <a:endParaRPr lang="en-US" sz="1300" dirty="0"/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9009A5E8-5275-9FEA-4A46-0B88A97B741A}"/>
              </a:ext>
            </a:extLst>
          </p:cNvPr>
          <p:cNvSpPr/>
          <p:nvPr/>
        </p:nvSpPr>
        <p:spPr>
          <a:xfrm>
            <a:off x="640080" y="32918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1CCBF61A-DFA2-F70F-17F9-3A94BF89D3F6}"/>
              </a:ext>
            </a:extLst>
          </p:cNvPr>
          <p:cNvSpPr/>
          <p:nvPr/>
        </p:nvSpPr>
        <p:spPr>
          <a:xfrm>
            <a:off x="640080" y="3291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/ work</a:t>
            </a:r>
            <a:endParaRPr lang="en-US" sz="1050" dirty="0"/>
          </a:p>
        </p:txBody>
      </p:sp>
      <p:sp>
        <p:nvSpPr>
          <p:cNvPr id="58" name="Shape 13">
            <a:extLst>
              <a:ext uri="{FF2B5EF4-FFF2-40B4-BE49-F238E27FC236}">
                <a16:creationId xmlns:a16="http://schemas.microsoft.com/office/drawing/2014/main" id="{6922B0F6-4EE4-6C01-32E8-C4623E5C01A1}"/>
              </a:ext>
            </a:extLst>
          </p:cNvPr>
          <p:cNvSpPr/>
          <p:nvPr/>
        </p:nvSpPr>
        <p:spPr>
          <a:xfrm>
            <a:off x="2103120" y="329184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ED38C5AB-8134-75C0-FE12-2AF5B1BE720D}"/>
              </a:ext>
            </a:extLst>
          </p:cNvPr>
          <p:cNvSpPr/>
          <p:nvPr/>
        </p:nvSpPr>
        <p:spPr>
          <a:xfrm>
            <a:off x="2103120" y="3291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up with people</a:t>
            </a:r>
            <a:endParaRPr lang="en-US" sz="1050" dirty="0"/>
          </a:p>
        </p:txBody>
      </p:sp>
      <p:sp>
        <p:nvSpPr>
          <p:cNvPr id="62" name="Shape 15">
            <a:extLst>
              <a:ext uri="{FF2B5EF4-FFF2-40B4-BE49-F238E27FC236}">
                <a16:creationId xmlns:a16="http://schemas.microsoft.com/office/drawing/2014/main" id="{1F7B97B0-59FE-8723-AD4A-75C7DC98635E}"/>
              </a:ext>
            </a:extLst>
          </p:cNvPr>
          <p:cNvSpPr/>
          <p:nvPr/>
        </p:nvSpPr>
        <p:spPr>
          <a:xfrm>
            <a:off x="4114800" y="329184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8A77D111-87C8-1579-88DC-743DBA45CF3C}"/>
              </a:ext>
            </a:extLst>
          </p:cNvPr>
          <p:cNvSpPr/>
          <p:nvPr/>
        </p:nvSpPr>
        <p:spPr>
          <a:xfrm>
            <a:off x="4114800" y="32918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</a:t>
            </a:r>
            <a:endParaRPr lang="en-US" sz="105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FB8DB991-4FFC-44FF-E36D-155C33E8230C}"/>
              </a:ext>
            </a:extLst>
          </p:cNvPr>
          <p:cNvSpPr/>
          <p:nvPr/>
        </p:nvSpPr>
        <p:spPr>
          <a:xfrm>
            <a:off x="5166360" y="329184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3F1EE521-083B-E144-BB1A-D85C9888C52F}"/>
              </a:ext>
            </a:extLst>
          </p:cNvPr>
          <p:cNvSpPr/>
          <p:nvPr/>
        </p:nvSpPr>
        <p:spPr>
          <a:xfrm>
            <a:off x="5166360" y="329184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down</a:t>
            </a:r>
            <a:endParaRPr lang="en-US" sz="105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C4B05FCD-2E34-28E5-537A-B31C06A5BC8C}"/>
              </a:ext>
            </a:extLst>
          </p:cNvPr>
          <p:cNvSpPr/>
          <p:nvPr/>
        </p:nvSpPr>
        <p:spPr>
          <a:xfrm>
            <a:off x="640080" y="37856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energy do you have?</a:t>
            </a:r>
            <a:endParaRPr lang="en-US" sz="1300" dirty="0"/>
          </a:p>
        </p:txBody>
      </p:sp>
      <p:sp>
        <p:nvSpPr>
          <p:cNvPr id="72" name="Shape 20">
            <a:extLst>
              <a:ext uri="{FF2B5EF4-FFF2-40B4-BE49-F238E27FC236}">
                <a16:creationId xmlns:a16="http://schemas.microsoft.com/office/drawing/2014/main" id="{C35A2073-E76D-B77A-82B5-7A85CA75B94B}"/>
              </a:ext>
            </a:extLst>
          </p:cNvPr>
          <p:cNvSpPr/>
          <p:nvPr/>
        </p:nvSpPr>
        <p:spPr>
          <a:xfrm>
            <a:off x="640080" y="413308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E7053F28-8FED-4B00-DE00-D9068DF1F4F2}"/>
              </a:ext>
            </a:extLst>
          </p:cNvPr>
          <p:cNvSpPr/>
          <p:nvPr/>
        </p:nvSpPr>
        <p:spPr>
          <a:xfrm>
            <a:off x="640080" y="41330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empty</a:t>
            </a:r>
            <a:endParaRPr lang="en-US" sz="1050" dirty="0"/>
          </a:p>
        </p:txBody>
      </p:sp>
      <p:sp>
        <p:nvSpPr>
          <p:cNvPr id="76" name="Shape 22">
            <a:extLst>
              <a:ext uri="{FF2B5EF4-FFF2-40B4-BE49-F238E27FC236}">
                <a16:creationId xmlns:a16="http://schemas.microsoft.com/office/drawing/2014/main" id="{48953941-59F0-5FBE-9EAE-AB92CFC6B775}"/>
              </a:ext>
            </a:extLst>
          </p:cNvPr>
          <p:cNvSpPr/>
          <p:nvPr/>
        </p:nvSpPr>
        <p:spPr>
          <a:xfrm>
            <a:off x="2377440" y="4133088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78" name="Text 23">
            <a:extLst>
              <a:ext uri="{FF2B5EF4-FFF2-40B4-BE49-F238E27FC236}">
                <a16:creationId xmlns:a16="http://schemas.microsoft.com/office/drawing/2014/main" id="{A601D57D-5C29-60BD-9023-00FB06F33BC9}"/>
              </a:ext>
            </a:extLst>
          </p:cNvPr>
          <p:cNvSpPr/>
          <p:nvPr/>
        </p:nvSpPr>
        <p:spPr>
          <a:xfrm>
            <a:off x="2377440" y="41330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1050" dirty="0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58C9C38D-EB65-FA1B-0D69-16D56C507F89}"/>
              </a:ext>
            </a:extLst>
          </p:cNvPr>
          <p:cNvSpPr/>
          <p:nvPr/>
        </p:nvSpPr>
        <p:spPr>
          <a:xfrm>
            <a:off x="3429000" y="4133088"/>
            <a:ext cx="845820" cy="38404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57D33FB4-79F4-EF3D-9C35-8D90ADAE0472}"/>
              </a:ext>
            </a:extLst>
          </p:cNvPr>
          <p:cNvSpPr/>
          <p:nvPr/>
        </p:nvSpPr>
        <p:spPr>
          <a:xfrm>
            <a:off x="3429000" y="4133088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</a:t>
            </a:r>
            <a:endParaRPr lang="en-US" sz="1050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66B9D344-E7D8-32DA-3FD4-FAD4214EBD09}"/>
              </a:ext>
            </a:extLst>
          </p:cNvPr>
          <p:cNvSpPr/>
          <p:nvPr/>
        </p:nvSpPr>
        <p:spPr>
          <a:xfrm>
            <a:off x="640080" y="46268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are you staying?</a:t>
            </a:r>
            <a:endParaRPr lang="en-US" sz="1300" dirty="0"/>
          </a:p>
        </p:txBody>
      </p:sp>
      <p:sp>
        <p:nvSpPr>
          <p:cNvPr id="86" name="Shape 27">
            <a:extLst>
              <a:ext uri="{FF2B5EF4-FFF2-40B4-BE49-F238E27FC236}">
                <a16:creationId xmlns:a16="http://schemas.microsoft.com/office/drawing/2014/main" id="{91D3A66D-5CBA-2DCC-73F1-0CFB27C58F07}"/>
              </a:ext>
            </a:extLst>
          </p:cNvPr>
          <p:cNvSpPr/>
          <p:nvPr/>
        </p:nvSpPr>
        <p:spPr>
          <a:xfrm>
            <a:off x="640080" y="497433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88" name="Text 28">
            <a:extLst>
              <a:ext uri="{FF2B5EF4-FFF2-40B4-BE49-F238E27FC236}">
                <a16:creationId xmlns:a16="http://schemas.microsoft.com/office/drawing/2014/main" id="{7379ABAE-D384-0025-C440-A5528A23B8EE}"/>
              </a:ext>
            </a:extLst>
          </p:cNvPr>
          <p:cNvSpPr/>
          <p:nvPr/>
        </p:nvSpPr>
        <p:spPr>
          <a:xfrm>
            <a:off x="640080" y="49743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050" dirty="0"/>
          </a:p>
        </p:txBody>
      </p:sp>
      <p:sp>
        <p:nvSpPr>
          <p:cNvPr id="90" name="Shape 29">
            <a:extLst>
              <a:ext uri="{FF2B5EF4-FFF2-40B4-BE49-F238E27FC236}">
                <a16:creationId xmlns:a16="http://schemas.microsoft.com/office/drawing/2014/main" id="{60DE960F-488B-BBD4-0260-AFDC340EC78D}"/>
              </a:ext>
            </a:extLst>
          </p:cNvPr>
          <p:cNvSpPr/>
          <p:nvPr/>
        </p:nvSpPr>
        <p:spPr>
          <a:xfrm>
            <a:off x="1828800" y="4974336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92" name="Text 30">
            <a:extLst>
              <a:ext uri="{FF2B5EF4-FFF2-40B4-BE49-F238E27FC236}">
                <a16:creationId xmlns:a16="http://schemas.microsoft.com/office/drawing/2014/main" id="{1A19FF22-4654-8E65-916D-B6A74208568A}"/>
              </a:ext>
            </a:extLst>
          </p:cNvPr>
          <p:cNvSpPr/>
          <p:nvPr/>
        </p:nvSpPr>
        <p:spPr>
          <a:xfrm>
            <a:off x="1828800" y="4974336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min</a:t>
            </a:r>
            <a:endParaRPr lang="en-US" sz="1050" dirty="0"/>
          </a:p>
        </p:txBody>
      </p:sp>
      <p:sp>
        <p:nvSpPr>
          <p:cNvPr id="94" name="Shape 31">
            <a:extLst>
              <a:ext uri="{FF2B5EF4-FFF2-40B4-BE49-F238E27FC236}">
                <a16:creationId xmlns:a16="http://schemas.microsoft.com/office/drawing/2014/main" id="{691E9635-16B5-5978-DF87-13BE038882BF}"/>
              </a:ext>
            </a:extLst>
          </p:cNvPr>
          <p:cNvSpPr/>
          <p:nvPr/>
        </p:nvSpPr>
        <p:spPr>
          <a:xfrm>
            <a:off x="3086100" y="4974336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96" name="Text 32">
            <a:extLst>
              <a:ext uri="{FF2B5EF4-FFF2-40B4-BE49-F238E27FC236}">
                <a16:creationId xmlns:a16="http://schemas.microsoft.com/office/drawing/2014/main" id="{ECC3FC8C-6D69-7F93-8CAC-331413DF0FC2}"/>
              </a:ext>
            </a:extLst>
          </p:cNvPr>
          <p:cNvSpPr/>
          <p:nvPr/>
        </p:nvSpPr>
        <p:spPr>
          <a:xfrm>
            <a:off x="3086100" y="4974336"/>
            <a:ext cx="98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min+</a:t>
            </a:r>
            <a:endParaRPr lang="en-US" sz="1050" dirty="0"/>
          </a:p>
        </p:txBody>
      </p:sp>
      <p:sp>
        <p:nvSpPr>
          <p:cNvPr id="98" name="Text 33">
            <a:extLst>
              <a:ext uri="{FF2B5EF4-FFF2-40B4-BE49-F238E27FC236}">
                <a16:creationId xmlns:a16="http://schemas.microsoft.com/office/drawing/2014/main" id="{394A5BBC-4EAA-5ECF-0D4B-4CF0C1F6C338}"/>
              </a:ext>
            </a:extLst>
          </p:cNvPr>
          <p:cNvSpPr/>
          <p:nvPr/>
        </p:nvSpPr>
        <p:spPr>
          <a:xfrm>
            <a:off x="640080" y="54681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preference right now?</a:t>
            </a:r>
            <a:endParaRPr lang="en-US" sz="1300" dirty="0"/>
          </a:p>
        </p:txBody>
      </p:sp>
      <p:sp>
        <p:nvSpPr>
          <p:cNvPr id="100" name="Shape 34">
            <a:extLst>
              <a:ext uri="{FF2B5EF4-FFF2-40B4-BE49-F238E27FC236}">
                <a16:creationId xmlns:a16="http://schemas.microsoft.com/office/drawing/2014/main" id="{FDD090E3-4034-3896-5EAB-43E9D3E898A0}"/>
              </a:ext>
            </a:extLst>
          </p:cNvPr>
          <p:cNvSpPr/>
          <p:nvPr/>
        </p:nvSpPr>
        <p:spPr>
          <a:xfrm>
            <a:off x="640080" y="5815584"/>
            <a:ext cx="845820" cy="384048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 w="12700">
            <a:solidFill>
              <a:srgbClr val="C1502E"/>
            </a:solidFill>
            <a:prstDash val="solid"/>
          </a:ln>
        </p:spPr>
      </p:sp>
      <p:sp>
        <p:nvSpPr>
          <p:cNvPr id="102" name="Text 35">
            <a:extLst>
              <a:ext uri="{FF2B5EF4-FFF2-40B4-BE49-F238E27FC236}">
                <a16:creationId xmlns:a16="http://schemas.microsoft.com/office/drawing/2014/main" id="{DB247E84-923C-8F78-2FF8-F076E4B367FD}"/>
              </a:ext>
            </a:extLst>
          </p:cNvPr>
          <p:cNvSpPr/>
          <p:nvPr/>
        </p:nvSpPr>
        <p:spPr>
          <a:xfrm>
            <a:off x="640080" y="5815584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</a:t>
            </a:r>
            <a:endParaRPr lang="en-US" sz="1050" dirty="0"/>
          </a:p>
        </p:txBody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B6BF0B2B-7DCE-A37B-97FA-742DCDD9041D}"/>
              </a:ext>
            </a:extLst>
          </p:cNvPr>
          <p:cNvSpPr/>
          <p:nvPr/>
        </p:nvSpPr>
        <p:spPr>
          <a:xfrm>
            <a:off x="1623060" y="5815584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106" name="Text 37">
            <a:extLst>
              <a:ext uri="{FF2B5EF4-FFF2-40B4-BE49-F238E27FC236}">
                <a16:creationId xmlns:a16="http://schemas.microsoft.com/office/drawing/2014/main" id="{B121867C-5E2C-1DFA-5647-AFAB33DD4F3C}"/>
              </a:ext>
            </a:extLst>
          </p:cNvPr>
          <p:cNvSpPr/>
          <p:nvPr/>
        </p:nvSpPr>
        <p:spPr>
          <a:xfrm>
            <a:off x="1623060" y="581558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Lively</a:t>
            </a:r>
            <a:endParaRPr lang="en-US" sz="1050" dirty="0"/>
          </a:p>
        </p:txBody>
      </p:sp>
      <p:sp>
        <p:nvSpPr>
          <p:cNvPr id="108" name="Shape 38">
            <a:extLst>
              <a:ext uri="{FF2B5EF4-FFF2-40B4-BE49-F238E27FC236}">
                <a16:creationId xmlns:a16="http://schemas.microsoft.com/office/drawing/2014/main" id="{28B00302-65B1-7BA6-26A2-98810D5CC609}"/>
              </a:ext>
            </a:extLst>
          </p:cNvPr>
          <p:cNvSpPr/>
          <p:nvPr/>
        </p:nvSpPr>
        <p:spPr>
          <a:xfrm>
            <a:off x="8092440" y="2057400"/>
            <a:ext cx="3429000" cy="3977640"/>
          </a:xfrm>
          <a:prstGeom prst="roundRect">
            <a:avLst>
              <a:gd name="adj" fmla="val 3733"/>
            </a:avLst>
          </a:prstGeom>
          <a:solidFill>
            <a:srgbClr val="F4EDE4"/>
          </a:solidFill>
          <a:ln/>
        </p:spPr>
      </p:sp>
      <p:sp>
        <p:nvSpPr>
          <p:cNvPr id="110" name="Text 39">
            <a:extLst>
              <a:ext uri="{FF2B5EF4-FFF2-40B4-BE49-F238E27FC236}">
                <a16:creationId xmlns:a16="http://schemas.microsoft.com/office/drawing/2014/main" id="{9B5FB77D-733A-D706-718F-3E74D6B6860B}"/>
              </a:ext>
            </a:extLst>
          </p:cNvPr>
          <p:cNvSpPr/>
          <p:nvPr/>
        </p:nvSpPr>
        <p:spPr>
          <a:xfrm>
            <a:off x="836676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MATCH</a:t>
            </a:r>
            <a:endParaRPr lang="en-US" sz="1100" dirty="0"/>
          </a:p>
        </p:txBody>
      </p:sp>
      <p:sp>
        <p:nvSpPr>
          <p:cNvPr id="112" name="Shape 40">
            <a:extLst>
              <a:ext uri="{FF2B5EF4-FFF2-40B4-BE49-F238E27FC236}">
                <a16:creationId xmlns:a16="http://schemas.microsoft.com/office/drawing/2014/main" id="{DB52396E-17F4-1DA6-443D-A78CE93615C5}"/>
              </a:ext>
            </a:extLst>
          </p:cNvPr>
          <p:cNvSpPr/>
          <p:nvPr/>
        </p:nvSpPr>
        <p:spPr>
          <a:xfrm>
            <a:off x="8366760" y="2697480"/>
            <a:ext cx="2880360" cy="822960"/>
          </a:xfrm>
          <a:prstGeom prst="roundRect">
            <a:avLst>
              <a:gd name="adj" fmla="val 11111"/>
            </a:avLst>
          </a:prstGeom>
          <a:solidFill>
            <a:srgbClr val="2F3C7E"/>
          </a:solidFill>
          <a:ln/>
        </p:spPr>
      </p:sp>
      <p:sp>
        <p:nvSpPr>
          <p:cNvPr id="114" name="Text 41">
            <a:extLst>
              <a:ext uri="{FF2B5EF4-FFF2-40B4-BE49-F238E27FC236}">
                <a16:creationId xmlns:a16="http://schemas.microsoft.com/office/drawing/2014/main" id="{7AC52095-7F0B-FDB9-F52D-147545F08C86}"/>
              </a:ext>
            </a:extLst>
          </p:cNvPr>
          <p:cNvSpPr/>
          <p:nvPr/>
        </p:nvSpPr>
        <p:spPr>
          <a:xfrm>
            <a:off x="8366760" y="2697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ZONE</a:t>
            </a:r>
            <a:endParaRPr lang="en-US" sz="1800" dirty="0"/>
          </a:p>
        </p:txBody>
      </p:sp>
      <p:sp>
        <p:nvSpPr>
          <p:cNvPr id="116" name="Text 42">
            <a:extLst>
              <a:ext uri="{FF2B5EF4-FFF2-40B4-BE49-F238E27FC236}">
                <a16:creationId xmlns:a16="http://schemas.microsoft.com/office/drawing/2014/main" id="{36AE0BF1-2641-A0B9-8407-D21DEEB30CF5}"/>
              </a:ext>
            </a:extLst>
          </p:cNvPr>
          <p:cNvSpPr/>
          <p:nvPr/>
        </p:nvSpPr>
        <p:spPr>
          <a:xfrm>
            <a:off x="8366760" y="36576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1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communal tabletop · bold indigo palette · low ambient noise · espresso-forward menu</a:t>
            </a:r>
            <a:endParaRPr lang="en-US" sz="1200" dirty="0"/>
          </a:p>
        </p:txBody>
      </p:sp>
      <p:sp>
        <p:nvSpPr>
          <p:cNvPr id="118" name="Shape 43">
            <a:extLst>
              <a:ext uri="{FF2B5EF4-FFF2-40B4-BE49-F238E27FC236}">
                <a16:creationId xmlns:a16="http://schemas.microsoft.com/office/drawing/2014/main" id="{F8C574AD-ED68-4F56-EFA2-53CF621F6A1C}"/>
              </a:ext>
            </a:extLst>
          </p:cNvPr>
          <p:cNvSpPr/>
          <p:nvPr/>
        </p:nvSpPr>
        <p:spPr>
          <a:xfrm>
            <a:off x="8366760" y="5029200"/>
            <a:ext cx="2880360" cy="0"/>
          </a:xfrm>
          <a:prstGeom prst="line">
            <a:avLst/>
          </a:prstGeom>
          <a:noFill/>
          <a:ln w="12700">
            <a:solidFill>
              <a:srgbClr val="D9C7B8"/>
            </a:solidFill>
            <a:prstDash val="solid"/>
          </a:ln>
        </p:spPr>
      </p:sp>
      <p:sp>
        <p:nvSpPr>
          <p:cNvPr id="120" name="Text 44">
            <a:extLst>
              <a:ext uri="{FF2B5EF4-FFF2-40B4-BE49-F238E27FC236}">
                <a16:creationId xmlns:a16="http://schemas.microsoft.com/office/drawing/2014/main" id="{C2A4D234-B2A4-5DEB-E5CF-DA58AFAE7EA4}"/>
              </a:ext>
            </a:extLst>
          </p:cNvPr>
          <p:cNvSpPr/>
          <p:nvPr/>
        </p:nvSpPr>
        <p:spPr>
          <a:xfrm>
            <a:off x="8366760" y="51663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12 is being prepared for you</a:t>
            </a:r>
            <a:endParaRPr lang="en-US" sz="1100" dirty="0"/>
          </a:p>
        </p:txBody>
      </p:sp>
      <p:sp>
        <p:nvSpPr>
          <p:cNvPr id="122" name="Text 45">
            <a:extLst>
              <a:ext uri="{FF2B5EF4-FFF2-40B4-BE49-F238E27FC236}">
                <a16:creationId xmlns:a16="http://schemas.microsoft.com/office/drawing/2014/main" id="{C2256596-8F42-F436-18E1-0D9CC69726D1}"/>
              </a:ext>
            </a:extLst>
          </p:cNvPr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E732974C-E302-A637-30E4-D838A4CC618D}"/>
              </a:ext>
            </a:extLst>
          </p:cNvPr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0BE4A1AA-384E-9753-6C1D-230DE457B910}"/>
              </a:ext>
            </a:extLst>
          </p:cNvPr>
          <p:cNvSpPr/>
          <p:nvPr/>
        </p:nvSpPr>
        <p:spPr>
          <a:xfrm>
            <a:off x="640080" y="7132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zones, four moods, four moods worth of design</a:t>
            </a:r>
            <a:endParaRPr lang="en-US" sz="25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71DA746E-7760-76E4-A49B-4374118BFE6F}"/>
              </a:ext>
            </a:extLst>
          </p:cNvPr>
          <p:cNvSpPr/>
          <p:nvPr/>
        </p:nvSpPr>
        <p:spPr>
          <a:xfrm>
            <a:off x="640080" y="15087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2F3C7E"/>
          </a:solidFill>
          <a:ln/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5EA0356-CAF0-D684-814D-37575FCC7BF0}"/>
              </a:ext>
            </a:extLst>
          </p:cNvPr>
          <p:cNvSpPr/>
          <p:nvPr/>
        </p:nvSpPr>
        <p:spPr>
          <a:xfrm>
            <a:off x="896112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7" name="Image 0" descr="target_navy.png">
            <a:extLst>
              <a:ext uri="{FF2B5EF4-FFF2-40B4-BE49-F238E27FC236}">
                <a16:creationId xmlns:a16="http://schemas.microsoft.com/office/drawing/2014/main" id="{C35BE9BD-13F3-4C57-FD2A-9D6F0B2D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11096"/>
            <a:ext cx="384048" cy="384048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810B657C-7EBB-714A-86BC-003EDFE3BD5F}"/>
              </a:ext>
            </a:extLst>
          </p:cNvPr>
          <p:cNvSpPr/>
          <p:nvPr/>
        </p:nvSpPr>
        <p:spPr>
          <a:xfrm>
            <a:off x="896112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9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6149D850-6BDD-2354-E599-C2BADABBFE74}"/>
              </a:ext>
            </a:extLst>
          </p:cNvPr>
          <p:cNvSpPr/>
          <p:nvPr/>
        </p:nvSpPr>
        <p:spPr>
          <a:xfrm>
            <a:off x="896112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9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DF0DE35-8706-2A0A-BAF6-3F08C3644953}"/>
              </a:ext>
            </a:extLst>
          </p:cNvPr>
          <p:cNvSpPr/>
          <p:nvPr/>
        </p:nvSpPr>
        <p:spPr>
          <a:xfrm>
            <a:off x="896112" y="3310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shared tabletop</a:t>
            </a:r>
            <a:endParaRPr lang="en-US" sz="11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1106A4D1-FA73-C1D0-B605-3AAF77A6C85D}"/>
              </a:ext>
            </a:extLst>
          </p:cNvPr>
          <p:cNvSpPr/>
          <p:nvPr/>
        </p:nvSpPr>
        <p:spPr>
          <a:xfrm>
            <a:off x="896112" y="4023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95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F1606FB-777A-0187-2AD5-5341B220F29F}"/>
              </a:ext>
            </a:extLst>
          </p:cNvPr>
          <p:cNvSpPr/>
          <p:nvPr/>
        </p:nvSpPr>
        <p:spPr>
          <a:xfrm>
            <a:off x="896112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saturated block color</a:t>
            </a:r>
            <a:endParaRPr lang="en-US" sz="11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2A6E5F7-18CF-FDB5-107F-C1951694B45D}"/>
              </a:ext>
            </a:extLst>
          </p:cNvPr>
          <p:cNvSpPr/>
          <p:nvPr/>
        </p:nvSpPr>
        <p:spPr>
          <a:xfrm>
            <a:off x="896112" y="4983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CUE</a:t>
            </a:r>
            <a:endParaRPr lang="en-US" sz="95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1555E219-94EE-8641-9747-F1CE65356AEF}"/>
              </a:ext>
            </a:extLst>
          </p:cNvPr>
          <p:cNvSpPr/>
          <p:nvPr/>
        </p:nvSpPr>
        <p:spPr>
          <a:xfrm>
            <a:off x="896112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High-caffeine, minimal-font espresso menu</a:t>
            </a:r>
            <a:endParaRPr lang="en-US" sz="11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ABA2F8D0-B780-A484-42BD-BBEC295F0059}"/>
              </a:ext>
            </a:extLst>
          </p:cNvPr>
          <p:cNvSpPr/>
          <p:nvPr/>
        </p:nvSpPr>
        <p:spPr>
          <a:xfrm>
            <a:off x="3429000" y="15087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9A03F"/>
          </a:solidFill>
          <a:ln/>
        </p:spPr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5A3BA0A9-D102-C967-5E33-32EA21723C86}"/>
              </a:ext>
            </a:extLst>
          </p:cNvPr>
          <p:cNvSpPr/>
          <p:nvPr/>
        </p:nvSpPr>
        <p:spPr>
          <a:xfrm>
            <a:off x="3685032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37" name="Image 1" descr="users_coral.png">
            <a:extLst>
              <a:ext uri="{FF2B5EF4-FFF2-40B4-BE49-F238E27FC236}">
                <a16:creationId xmlns:a16="http://schemas.microsoft.com/office/drawing/2014/main" id="{3F05EB8C-EFD4-5663-3909-0CEAD0530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048" y="1911096"/>
            <a:ext cx="384048" cy="384048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70742B0E-B876-9CF7-EA1A-E8C5DAF1FCAB}"/>
              </a:ext>
            </a:extLst>
          </p:cNvPr>
          <p:cNvSpPr/>
          <p:nvPr/>
        </p:nvSpPr>
        <p:spPr>
          <a:xfrm>
            <a:off x="3685032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9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716EF513-6C8E-B344-9F9B-155B20E9B522}"/>
              </a:ext>
            </a:extLst>
          </p:cNvPr>
          <p:cNvSpPr/>
          <p:nvPr/>
        </p:nvSpPr>
        <p:spPr>
          <a:xfrm>
            <a:off x="3685032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95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1C1BD727-1574-2595-AED4-1551963372ED}"/>
              </a:ext>
            </a:extLst>
          </p:cNvPr>
          <p:cNvSpPr/>
          <p:nvPr/>
        </p:nvSpPr>
        <p:spPr>
          <a:xfrm>
            <a:off x="3685032" y="3310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Bubbly, rounded cluster chairs</a:t>
            </a:r>
            <a:endParaRPr lang="en-US" sz="11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6E3960C-FC53-2498-07AA-556B2DF72CB1}"/>
              </a:ext>
            </a:extLst>
          </p:cNvPr>
          <p:cNvSpPr/>
          <p:nvPr/>
        </p:nvSpPr>
        <p:spPr>
          <a:xfrm>
            <a:off x="3685032" y="4023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95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8750EB73-18BD-4C29-5253-B376D8228399}"/>
              </a:ext>
            </a:extLst>
          </p:cNvPr>
          <p:cNvSpPr/>
          <p:nvPr/>
        </p:nvSpPr>
        <p:spPr>
          <a:xfrm>
            <a:off x="3685032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brights, playful pattern mix</a:t>
            </a:r>
            <a:endParaRPr lang="en-US" sz="11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BFB93FE6-D3A7-3994-8217-C9062FFD84C0}"/>
              </a:ext>
            </a:extLst>
          </p:cNvPr>
          <p:cNvSpPr/>
          <p:nvPr/>
        </p:nvSpPr>
        <p:spPr>
          <a:xfrm>
            <a:off x="3685032" y="4983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CUE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08B320FE-9CC5-781F-7B21-F077E9026EDE}"/>
              </a:ext>
            </a:extLst>
          </p:cNvPr>
          <p:cNvSpPr/>
          <p:nvPr/>
        </p:nvSpPr>
        <p:spPr>
          <a:xfrm>
            <a:off x="3685032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pours, group-size servings</a:t>
            </a:r>
            <a:endParaRPr lang="en-US" sz="1100" dirty="0"/>
          </a:p>
        </p:txBody>
      </p:sp>
      <p:sp>
        <p:nvSpPr>
          <p:cNvPr id="53" name="Shape 20">
            <a:extLst>
              <a:ext uri="{FF2B5EF4-FFF2-40B4-BE49-F238E27FC236}">
                <a16:creationId xmlns:a16="http://schemas.microsoft.com/office/drawing/2014/main" id="{92B0C1FB-E579-DB3B-E449-B3B43972ADE3}"/>
              </a:ext>
            </a:extLst>
          </p:cNvPr>
          <p:cNvSpPr/>
          <p:nvPr/>
        </p:nvSpPr>
        <p:spPr>
          <a:xfrm>
            <a:off x="6217920" y="15087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A26769"/>
          </a:solidFill>
          <a:ln/>
        </p:spPr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9C8CFFB0-E63D-B277-CF81-52C7508A3BF8}"/>
              </a:ext>
            </a:extLst>
          </p:cNvPr>
          <p:cNvSpPr/>
          <p:nvPr/>
        </p:nvSpPr>
        <p:spPr>
          <a:xfrm>
            <a:off x="6473952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57" name="Image 2" descr="heart_rose.png">
            <a:extLst>
              <a:ext uri="{FF2B5EF4-FFF2-40B4-BE49-F238E27FC236}">
                <a16:creationId xmlns:a16="http://schemas.microsoft.com/office/drawing/2014/main" id="{F4F3C091-AC21-3D70-C0FE-3F6030B83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911096"/>
            <a:ext cx="384048" cy="384048"/>
          </a:xfrm>
          <a:prstGeom prst="rect">
            <a:avLst/>
          </a:prstGeom>
        </p:spPr>
      </p:pic>
      <p:sp>
        <p:nvSpPr>
          <p:cNvPr id="59" name="Text 22">
            <a:extLst>
              <a:ext uri="{FF2B5EF4-FFF2-40B4-BE49-F238E27FC236}">
                <a16:creationId xmlns:a16="http://schemas.microsoft.com/office/drawing/2014/main" id="{4A419563-7C6C-2A7C-FC52-79CD65E15A3F}"/>
              </a:ext>
            </a:extLst>
          </p:cNvPr>
          <p:cNvSpPr/>
          <p:nvPr/>
        </p:nvSpPr>
        <p:spPr>
          <a:xfrm>
            <a:off x="6473952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9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6F8EC265-4E4C-DF1B-A9D6-90866F6B6CB7}"/>
              </a:ext>
            </a:extLst>
          </p:cNvPr>
          <p:cNvSpPr/>
          <p:nvPr/>
        </p:nvSpPr>
        <p:spPr>
          <a:xfrm>
            <a:off x="6473952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95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256CACF-9D3D-5BB1-5630-DCD948250F6A}"/>
              </a:ext>
            </a:extLst>
          </p:cNvPr>
          <p:cNvSpPr/>
          <p:nvPr/>
        </p:nvSpPr>
        <p:spPr>
          <a:xfrm>
            <a:off x="6473952" y="3310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 two-seaters</a:t>
            </a:r>
            <a:endParaRPr lang="en-US" sz="11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355F95D0-A1D0-C2F7-083D-811389FB815D}"/>
              </a:ext>
            </a:extLst>
          </p:cNvPr>
          <p:cNvSpPr/>
          <p:nvPr/>
        </p:nvSpPr>
        <p:spPr>
          <a:xfrm>
            <a:off x="6473952" y="4023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95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341A4741-2778-9811-FAB2-E7620F993E48}"/>
              </a:ext>
            </a:extLst>
          </p:cNvPr>
          <p:cNvSpPr/>
          <p:nvPr/>
        </p:nvSpPr>
        <p:spPr>
          <a:xfrm>
            <a:off x="6473952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Dusty rose, low warm light</a:t>
            </a:r>
            <a:endParaRPr lang="en-US" sz="1100" dirty="0"/>
          </a:p>
        </p:txBody>
      </p:sp>
      <p:sp>
        <p:nvSpPr>
          <p:cNvPr id="69" name="Text 27">
            <a:extLst>
              <a:ext uri="{FF2B5EF4-FFF2-40B4-BE49-F238E27FC236}">
                <a16:creationId xmlns:a16="http://schemas.microsoft.com/office/drawing/2014/main" id="{9862E81A-0385-06F8-E15A-5231D27285E3}"/>
              </a:ext>
            </a:extLst>
          </p:cNvPr>
          <p:cNvSpPr/>
          <p:nvPr/>
        </p:nvSpPr>
        <p:spPr>
          <a:xfrm>
            <a:off x="6473952" y="4983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CUE</a:t>
            </a:r>
            <a:endParaRPr lang="en-US" sz="950" dirty="0"/>
          </a:p>
        </p:txBody>
      </p:sp>
      <p:sp>
        <p:nvSpPr>
          <p:cNvPr id="71" name="Text 28">
            <a:extLst>
              <a:ext uri="{FF2B5EF4-FFF2-40B4-BE49-F238E27FC236}">
                <a16:creationId xmlns:a16="http://schemas.microsoft.com/office/drawing/2014/main" id="{95ED66F9-FAEA-F9A0-4400-9BA80715DC6C}"/>
              </a:ext>
            </a:extLst>
          </p:cNvPr>
          <p:cNvSpPr/>
          <p:nvPr/>
        </p:nvSpPr>
        <p:spPr>
          <a:xfrm>
            <a:off x="6473952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Slower-paced menu, low-caffeine options</a:t>
            </a:r>
            <a:endParaRPr lang="en-US" sz="1100" dirty="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7DB91412-C079-D17A-59EF-618C82B57536}"/>
              </a:ext>
            </a:extLst>
          </p:cNvPr>
          <p:cNvSpPr/>
          <p:nvPr/>
        </p:nvSpPr>
        <p:spPr>
          <a:xfrm>
            <a:off x="9006840" y="15087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84B59F"/>
          </a:solidFill>
          <a:ln/>
        </p:spPr>
      </p:sp>
      <p:sp>
        <p:nvSpPr>
          <p:cNvPr id="75" name="Shape 30">
            <a:extLst>
              <a:ext uri="{FF2B5EF4-FFF2-40B4-BE49-F238E27FC236}">
                <a16:creationId xmlns:a16="http://schemas.microsoft.com/office/drawing/2014/main" id="{FC8ED9F8-0EFB-C667-2806-13E87C4CE18B}"/>
              </a:ext>
            </a:extLst>
          </p:cNvPr>
          <p:cNvSpPr/>
          <p:nvPr/>
        </p:nvSpPr>
        <p:spPr>
          <a:xfrm>
            <a:off x="9262872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77" name="Image 3" descr="moon_sage.png">
            <a:extLst>
              <a:ext uri="{FF2B5EF4-FFF2-40B4-BE49-F238E27FC236}">
                <a16:creationId xmlns:a16="http://schemas.microsoft.com/office/drawing/2014/main" id="{C722BC2B-13C6-AF46-25D8-2DA544D44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1911096"/>
            <a:ext cx="384048" cy="384048"/>
          </a:xfrm>
          <a:prstGeom prst="rect">
            <a:avLst/>
          </a:prstGeom>
        </p:spPr>
      </p:pic>
      <p:sp>
        <p:nvSpPr>
          <p:cNvPr id="79" name="Text 31">
            <a:extLst>
              <a:ext uri="{FF2B5EF4-FFF2-40B4-BE49-F238E27FC236}">
                <a16:creationId xmlns:a16="http://schemas.microsoft.com/office/drawing/2014/main" id="{C6F019C1-97F8-37C8-BC7B-57ABBD818D2F}"/>
              </a:ext>
            </a:extLst>
          </p:cNvPr>
          <p:cNvSpPr/>
          <p:nvPr/>
        </p:nvSpPr>
        <p:spPr>
          <a:xfrm>
            <a:off x="9262872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900" dirty="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F81824B0-B6B5-0DBB-CBE1-31D7AAE97FC9}"/>
              </a:ext>
            </a:extLst>
          </p:cNvPr>
          <p:cNvSpPr/>
          <p:nvPr/>
        </p:nvSpPr>
        <p:spPr>
          <a:xfrm>
            <a:off x="9262872" y="30632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950" dirty="0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8DE38D95-89A6-1F32-8148-8C313086992A}"/>
              </a:ext>
            </a:extLst>
          </p:cNvPr>
          <p:cNvSpPr/>
          <p:nvPr/>
        </p:nvSpPr>
        <p:spPr>
          <a:xfrm>
            <a:off x="9262872" y="3310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lounge seating, deep curves</a:t>
            </a:r>
            <a:endParaRPr lang="en-US" sz="1100" dirty="0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9CA6D74A-EC77-EB37-E6AC-897A6711FE21}"/>
              </a:ext>
            </a:extLst>
          </p:cNvPr>
          <p:cNvSpPr/>
          <p:nvPr/>
        </p:nvSpPr>
        <p:spPr>
          <a:xfrm>
            <a:off x="9262872" y="4023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endParaRPr lang="en-US" sz="950" dirty="0"/>
          </a:p>
        </p:txBody>
      </p:sp>
      <p:sp>
        <p:nvSpPr>
          <p:cNvPr id="87" name="Text 35">
            <a:extLst>
              <a:ext uri="{FF2B5EF4-FFF2-40B4-BE49-F238E27FC236}">
                <a16:creationId xmlns:a16="http://schemas.microsoft.com/office/drawing/2014/main" id="{53C98013-2BA6-34E2-193C-D38157F24201}"/>
              </a:ext>
            </a:extLst>
          </p:cNvPr>
          <p:cNvSpPr/>
          <p:nvPr/>
        </p:nvSpPr>
        <p:spPr>
          <a:xfrm>
            <a:off x="9262872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Swirl motifs, sage &amp; lavender</a:t>
            </a:r>
            <a:endParaRPr lang="en-US" sz="1100" dirty="0"/>
          </a:p>
        </p:txBody>
      </p:sp>
      <p:sp>
        <p:nvSpPr>
          <p:cNvPr id="89" name="Text 36">
            <a:extLst>
              <a:ext uri="{FF2B5EF4-FFF2-40B4-BE49-F238E27FC236}">
                <a16:creationId xmlns:a16="http://schemas.microsoft.com/office/drawing/2014/main" id="{D5EA47A7-736A-E196-4758-81ACAEA31BB5}"/>
              </a:ext>
            </a:extLst>
          </p:cNvPr>
          <p:cNvSpPr/>
          <p:nvPr/>
        </p:nvSpPr>
        <p:spPr>
          <a:xfrm>
            <a:off x="9262872" y="4983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CUE</a:t>
            </a:r>
            <a:endParaRPr lang="en-US" sz="950" dirty="0"/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8D1266BF-F9A7-C35F-B3DC-800C011B284B}"/>
              </a:ext>
            </a:extLst>
          </p:cNvPr>
          <p:cNvSpPr/>
          <p:nvPr/>
        </p:nvSpPr>
        <p:spPr>
          <a:xfrm>
            <a:off x="9262872" y="52303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Decaf, herbal, wind-down blends</a:t>
            </a:r>
            <a:endParaRPr lang="en-US" sz="1100" dirty="0"/>
          </a:p>
        </p:txBody>
      </p:sp>
      <p:sp>
        <p:nvSpPr>
          <p:cNvPr id="93" name="Text 38">
            <a:extLst>
              <a:ext uri="{FF2B5EF4-FFF2-40B4-BE49-F238E27FC236}">
                <a16:creationId xmlns:a16="http://schemas.microsoft.com/office/drawing/2014/main" id="{E56229BB-07DF-5593-FD1E-E6EF5A33EE17}"/>
              </a:ext>
            </a:extLst>
          </p:cNvPr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>
            <a:extLst>
              <a:ext uri="{FF2B5EF4-FFF2-40B4-BE49-F238E27FC236}">
                <a16:creationId xmlns:a16="http://schemas.microsoft.com/office/drawing/2014/main" id="{43A9981F-02E7-A48C-6CDC-9742C1A7C7C6}"/>
              </a:ext>
            </a:extLst>
          </p:cNvPr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3" name="Text 1">
            <a:extLst>
              <a:ext uri="{FF2B5EF4-FFF2-40B4-BE49-F238E27FC236}">
                <a16:creationId xmlns:a16="http://schemas.microsoft.com/office/drawing/2014/main" id="{C1A01795-F64C-5AEF-A7A0-06279E85ABD5}"/>
              </a:ext>
            </a:extLst>
          </p:cNvPr>
          <p:cNvSpPr/>
          <p:nvPr/>
        </p:nvSpPr>
        <p:spPr>
          <a:xfrm>
            <a:off x="64008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is designed, not decorated</a:t>
            </a:r>
            <a:endParaRPr lang="en-US" sz="2800" dirty="0"/>
          </a:p>
        </p:txBody>
      </p:sp>
      <p:sp>
        <p:nvSpPr>
          <p:cNvPr id="105" name="Text 2">
            <a:extLst>
              <a:ext uri="{FF2B5EF4-FFF2-40B4-BE49-F238E27FC236}">
                <a16:creationId xmlns:a16="http://schemas.microsoft.com/office/drawing/2014/main" id="{3E26C1BF-838C-B9F9-F704-CE5B21B01E8B}"/>
              </a:ext>
            </a:extLst>
          </p:cNvPr>
          <p:cNvSpPr/>
          <p:nvPr/>
        </p:nvSpPr>
        <p:spPr>
          <a:xfrm>
            <a:off x="640080" y="153619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hands you a different card — same kitchen, different framing, portioning, and caffeine curve.</a:t>
            </a:r>
            <a:endParaRPr lang="en-US" sz="1350" dirty="0"/>
          </a:p>
        </p:txBody>
      </p:sp>
      <p:sp>
        <p:nvSpPr>
          <p:cNvPr id="107" name="Shape 3">
            <a:extLst>
              <a:ext uri="{FF2B5EF4-FFF2-40B4-BE49-F238E27FC236}">
                <a16:creationId xmlns:a16="http://schemas.microsoft.com/office/drawing/2014/main" id="{BCD45E32-85F5-7309-FBA6-7F23117F3856}"/>
              </a:ext>
            </a:extLst>
          </p:cNvPr>
          <p:cNvSpPr/>
          <p:nvPr/>
        </p:nvSpPr>
        <p:spPr>
          <a:xfrm>
            <a:off x="640080" y="233172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F4EDE4"/>
          </a:solidFill>
          <a:ln/>
        </p:spPr>
      </p:sp>
      <p:sp>
        <p:nvSpPr>
          <p:cNvPr id="109" name="Text 4">
            <a:extLst>
              <a:ext uri="{FF2B5EF4-FFF2-40B4-BE49-F238E27FC236}">
                <a16:creationId xmlns:a16="http://schemas.microsoft.com/office/drawing/2014/main" id="{9A842067-294C-2455-9857-D394E9994248}"/>
              </a:ext>
            </a:extLst>
          </p:cNvPr>
          <p:cNvSpPr/>
          <p:nvPr/>
        </p:nvSpPr>
        <p:spPr>
          <a:xfrm>
            <a:off x="914400" y="2560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ESPRESSO / FOCUS</a:t>
            </a:r>
            <a:endParaRPr lang="en-US" sz="1100" dirty="0"/>
          </a:p>
        </p:txBody>
      </p:sp>
      <p:sp>
        <p:nvSpPr>
          <p:cNvPr id="111" name="Shape 5">
            <a:extLst>
              <a:ext uri="{FF2B5EF4-FFF2-40B4-BE49-F238E27FC236}">
                <a16:creationId xmlns:a16="http://schemas.microsoft.com/office/drawing/2014/main" id="{98CBE08D-FBF1-55AB-79AF-291D6740D762}"/>
              </a:ext>
            </a:extLst>
          </p:cNvPr>
          <p:cNvSpPr/>
          <p:nvPr/>
        </p:nvSpPr>
        <p:spPr>
          <a:xfrm>
            <a:off x="914400" y="2926080"/>
            <a:ext cx="4114800" cy="0"/>
          </a:xfrm>
          <a:prstGeom prst="line">
            <a:avLst/>
          </a:prstGeom>
          <a:noFill/>
          <a:ln w="9525">
            <a:solidFill>
              <a:srgbClr val="D9C7B8"/>
            </a:solidFill>
            <a:prstDash val="solid"/>
          </a:ln>
        </p:spPr>
      </p:sp>
      <p:sp>
        <p:nvSpPr>
          <p:cNvPr id="113" name="Text 6">
            <a:extLst>
              <a:ext uri="{FF2B5EF4-FFF2-40B4-BE49-F238E27FC236}">
                <a16:creationId xmlns:a16="http://schemas.microsoft.com/office/drawing/2014/main" id="{D8E03A4B-2D75-8AD4-70A6-2BC6A3483183}"/>
              </a:ext>
            </a:extLst>
          </p:cNvPr>
          <p:cNvSpPr/>
          <p:nvPr/>
        </p:nvSpPr>
        <p:spPr>
          <a:xfrm>
            <a:off x="914400" y="31089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Espresso</a:t>
            </a:r>
            <a:endParaRPr lang="en-US" sz="1300" dirty="0"/>
          </a:p>
        </p:txBody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10E910E3-776F-0865-9694-6A4B62500821}"/>
              </a:ext>
            </a:extLst>
          </p:cNvPr>
          <p:cNvSpPr/>
          <p:nvPr/>
        </p:nvSpPr>
        <p:spPr>
          <a:xfrm>
            <a:off x="914400" y="3383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7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mg caffeine · focused, fast</a:t>
            </a:r>
            <a:endParaRPr lang="en-US" sz="950" dirty="0"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953B3B08-4A72-9C0F-7F41-EED6449E545D}"/>
              </a:ext>
            </a:extLst>
          </p:cNvPr>
          <p:cNvSpPr/>
          <p:nvPr/>
        </p:nvSpPr>
        <p:spPr>
          <a:xfrm>
            <a:off x="914400" y="3712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Black, No Sugar</a:t>
            </a:r>
            <a:endParaRPr lang="en-US" sz="1300" dirty="0"/>
          </a:p>
        </p:txBody>
      </p:sp>
      <p:sp>
        <p:nvSpPr>
          <p:cNvPr id="119" name="Text 9">
            <a:extLst>
              <a:ext uri="{FF2B5EF4-FFF2-40B4-BE49-F238E27FC236}">
                <a16:creationId xmlns:a16="http://schemas.microsoft.com/office/drawing/2014/main" id="{7CC1A10C-5BF6-9368-6E0E-F7D0F20282C6}"/>
              </a:ext>
            </a:extLst>
          </p:cNvPr>
          <p:cNvSpPr/>
          <p:nvPr/>
        </p:nvSpPr>
        <p:spPr>
          <a:xfrm>
            <a:off x="914400" y="39867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7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mg · clean, sustained</a:t>
            </a:r>
            <a:endParaRPr lang="en-US" sz="950" dirty="0"/>
          </a:p>
        </p:txBody>
      </p:sp>
      <p:sp>
        <p:nvSpPr>
          <p:cNvPr id="121" name="Text 10">
            <a:extLst>
              <a:ext uri="{FF2B5EF4-FFF2-40B4-BE49-F238E27FC236}">
                <a16:creationId xmlns:a16="http://schemas.microsoft.com/office/drawing/2014/main" id="{DFD79516-D7C1-171E-C24D-C01FF084240A}"/>
              </a:ext>
            </a:extLst>
          </p:cNvPr>
          <p:cNvSpPr/>
          <p:nvPr/>
        </p:nvSpPr>
        <p:spPr>
          <a:xfrm>
            <a:off x="914400" y="43159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Cortado</a:t>
            </a:r>
            <a:endParaRPr lang="en-US" sz="1300" dirty="0"/>
          </a:p>
        </p:txBody>
      </p:sp>
      <p:sp>
        <p:nvSpPr>
          <p:cNvPr id="123" name="Text 11">
            <a:extLst>
              <a:ext uri="{FF2B5EF4-FFF2-40B4-BE49-F238E27FC236}">
                <a16:creationId xmlns:a16="http://schemas.microsoft.com/office/drawing/2014/main" id="{2157BF28-A5CC-8B38-908E-3CADABB85A86}"/>
              </a:ext>
            </a:extLst>
          </p:cNvPr>
          <p:cNvSpPr/>
          <p:nvPr/>
        </p:nvSpPr>
        <p:spPr>
          <a:xfrm>
            <a:off x="914400" y="4590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7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mg · balanced lift</a:t>
            </a:r>
            <a:endParaRPr lang="en-US" sz="950" dirty="0"/>
          </a:p>
        </p:txBody>
      </p:sp>
      <p:sp>
        <p:nvSpPr>
          <p:cNvPr id="125" name="Text 12">
            <a:extLst>
              <a:ext uri="{FF2B5EF4-FFF2-40B4-BE49-F238E27FC236}">
                <a16:creationId xmlns:a16="http://schemas.microsoft.com/office/drawing/2014/main" id="{60C67F2D-A8D4-DCA5-AB32-AA2712A2A2A5}"/>
              </a:ext>
            </a:extLst>
          </p:cNvPr>
          <p:cNvSpPr/>
          <p:nvPr/>
        </p:nvSpPr>
        <p:spPr>
          <a:xfrm>
            <a:off x="914400" y="4919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Iced Americano</a:t>
            </a:r>
            <a:endParaRPr lang="en-US" sz="1300" dirty="0"/>
          </a:p>
        </p:txBody>
      </p:sp>
      <p:sp>
        <p:nvSpPr>
          <p:cNvPr id="127" name="Text 13">
            <a:extLst>
              <a:ext uri="{FF2B5EF4-FFF2-40B4-BE49-F238E27FC236}">
                <a16:creationId xmlns:a16="http://schemas.microsoft.com/office/drawing/2014/main" id="{B8EB0D51-60AB-F9D0-CFDE-C5F477CAA18F}"/>
              </a:ext>
            </a:extLst>
          </p:cNvPr>
          <p:cNvSpPr/>
          <p:nvPr/>
        </p:nvSpPr>
        <p:spPr>
          <a:xfrm>
            <a:off x="914400" y="51937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7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mg · cold, high alertness</a:t>
            </a:r>
            <a:endParaRPr lang="en-US" sz="950" dirty="0"/>
          </a:p>
        </p:txBody>
      </p:sp>
      <p:sp>
        <p:nvSpPr>
          <p:cNvPr id="129" name="Text 14">
            <a:extLst>
              <a:ext uri="{FF2B5EF4-FFF2-40B4-BE49-F238E27FC236}">
                <a16:creationId xmlns:a16="http://schemas.microsoft.com/office/drawing/2014/main" id="{89AEA4CE-9D21-838B-C5B7-1F6A08EA7CE6}"/>
              </a:ext>
            </a:extLst>
          </p:cNvPr>
          <p:cNvSpPr/>
          <p:nvPr/>
        </p:nvSpPr>
        <p:spPr>
          <a:xfrm>
            <a:off x="914400" y="561441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single minimal sans (Arial), tight tracking, no ornamentation — reads fast for a mind that’s already working.</a:t>
            </a:r>
            <a:endParaRPr lang="en-US" sz="1000" dirty="0"/>
          </a:p>
        </p:txBody>
      </p:sp>
      <p:sp>
        <p:nvSpPr>
          <p:cNvPr id="131" name="Shape 15">
            <a:extLst>
              <a:ext uri="{FF2B5EF4-FFF2-40B4-BE49-F238E27FC236}">
                <a16:creationId xmlns:a16="http://schemas.microsoft.com/office/drawing/2014/main" id="{7B0E1381-FDF8-2F7E-E86C-FD6CDB5B291F}"/>
              </a:ext>
            </a:extLst>
          </p:cNvPr>
          <p:cNvSpPr/>
          <p:nvPr/>
        </p:nvSpPr>
        <p:spPr>
          <a:xfrm>
            <a:off x="5623560" y="2331720"/>
            <a:ext cx="5897880" cy="841248"/>
          </a:xfrm>
          <a:prstGeom prst="roundRect">
            <a:avLst>
              <a:gd name="adj" fmla="val 8696"/>
            </a:avLst>
          </a:prstGeom>
          <a:solidFill>
            <a:srgbClr val="3E241A"/>
          </a:solidFill>
          <a:ln/>
        </p:spPr>
      </p:sp>
      <p:sp>
        <p:nvSpPr>
          <p:cNvPr id="133" name="Shape 16">
            <a:extLst>
              <a:ext uri="{FF2B5EF4-FFF2-40B4-BE49-F238E27FC236}">
                <a16:creationId xmlns:a16="http://schemas.microsoft.com/office/drawing/2014/main" id="{2E0BDFA7-4030-2196-A493-225FD9D28EAD}"/>
              </a:ext>
            </a:extLst>
          </p:cNvPr>
          <p:cNvSpPr/>
          <p:nvPr/>
        </p:nvSpPr>
        <p:spPr>
          <a:xfrm>
            <a:off x="5852160" y="2633472"/>
            <a:ext cx="237744" cy="237744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5" name="Text 17">
            <a:extLst>
              <a:ext uri="{FF2B5EF4-FFF2-40B4-BE49-F238E27FC236}">
                <a16:creationId xmlns:a16="http://schemas.microsoft.com/office/drawing/2014/main" id="{DCFD596F-619C-A200-1F05-CFCB303B30E1}"/>
              </a:ext>
            </a:extLst>
          </p:cNvPr>
          <p:cNvSpPr/>
          <p:nvPr/>
        </p:nvSpPr>
        <p:spPr>
          <a:xfrm>
            <a:off x="6263640" y="2441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400" dirty="0"/>
          </a:p>
        </p:txBody>
      </p:sp>
      <p:sp>
        <p:nvSpPr>
          <p:cNvPr id="137" name="Text 18">
            <a:extLst>
              <a:ext uri="{FF2B5EF4-FFF2-40B4-BE49-F238E27FC236}">
                <a16:creationId xmlns:a16="http://schemas.microsoft.com/office/drawing/2014/main" id="{11D27B3D-9BE4-8B6E-0F41-1B05FDAFC9F3}"/>
              </a:ext>
            </a:extLst>
          </p:cNvPr>
          <p:cNvSpPr/>
          <p:nvPr/>
        </p:nvSpPr>
        <p:spPr>
          <a:xfrm>
            <a:off x="6263640" y="27706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· tight · caffeine-forward</a:t>
            </a:r>
            <a:endParaRPr lang="en-US" sz="1100" dirty="0"/>
          </a:p>
        </p:txBody>
      </p:sp>
      <p:sp>
        <p:nvSpPr>
          <p:cNvPr id="139" name="Shape 19">
            <a:extLst>
              <a:ext uri="{FF2B5EF4-FFF2-40B4-BE49-F238E27FC236}">
                <a16:creationId xmlns:a16="http://schemas.microsoft.com/office/drawing/2014/main" id="{8084C4A9-7B84-D7DE-9EC3-3AAB3FC504DF}"/>
              </a:ext>
            </a:extLst>
          </p:cNvPr>
          <p:cNvSpPr/>
          <p:nvPr/>
        </p:nvSpPr>
        <p:spPr>
          <a:xfrm>
            <a:off x="5623560" y="3319272"/>
            <a:ext cx="5897880" cy="841248"/>
          </a:xfrm>
          <a:prstGeom prst="roundRect">
            <a:avLst>
              <a:gd name="adj" fmla="val 8696"/>
            </a:avLst>
          </a:prstGeom>
          <a:solidFill>
            <a:srgbClr val="3E241A"/>
          </a:solidFill>
          <a:ln/>
        </p:spPr>
      </p:sp>
      <p:sp>
        <p:nvSpPr>
          <p:cNvPr id="141" name="Shape 20">
            <a:extLst>
              <a:ext uri="{FF2B5EF4-FFF2-40B4-BE49-F238E27FC236}">
                <a16:creationId xmlns:a16="http://schemas.microsoft.com/office/drawing/2014/main" id="{EF941DF7-3168-9D0F-001C-100FF7C378D4}"/>
              </a:ext>
            </a:extLst>
          </p:cNvPr>
          <p:cNvSpPr/>
          <p:nvPr/>
        </p:nvSpPr>
        <p:spPr>
          <a:xfrm>
            <a:off x="5852160" y="3621024"/>
            <a:ext cx="237744" cy="237744"/>
          </a:xfrm>
          <a:prstGeom prst="ellipse">
            <a:avLst/>
          </a:prstGeom>
          <a:solidFill>
            <a:srgbClr val="F9A03F"/>
          </a:solidFill>
          <a:ln/>
        </p:spPr>
      </p:sp>
      <p:sp>
        <p:nvSpPr>
          <p:cNvPr id="143" name="Text 21">
            <a:extLst>
              <a:ext uri="{FF2B5EF4-FFF2-40B4-BE49-F238E27FC236}">
                <a16:creationId xmlns:a16="http://schemas.microsoft.com/office/drawing/2014/main" id="{69367036-2C04-FE5A-481A-F9C0E8CB46D3}"/>
              </a:ext>
            </a:extLst>
          </p:cNvPr>
          <p:cNvSpPr/>
          <p:nvPr/>
        </p:nvSpPr>
        <p:spPr>
          <a:xfrm>
            <a:off x="626364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</a:t>
            </a:r>
            <a:endParaRPr lang="en-US" sz="1400" dirty="0"/>
          </a:p>
        </p:txBody>
      </p:sp>
      <p:sp>
        <p:nvSpPr>
          <p:cNvPr id="145" name="Text 22">
            <a:extLst>
              <a:ext uri="{FF2B5EF4-FFF2-40B4-BE49-F238E27FC236}">
                <a16:creationId xmlns:a16="http://schemas.microsoft.com/office/drawing/2014/main" id="{C90B32F9-E280-DEDB-D314-A141E6F6B5E4}"/>
              </a:ext>
            </a:extLst>
          </p:cNvPr>
          <p:cNvSpPr/>
          <p:nvPr/>
        </p:nvSpPr>
        <p:spPr>
          <a:xfrm>
            <a:off x="6263640" y="37581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sans · shareable formats</a:t>
            </a:r>
            <a:endParaRPr lang="en-US" sz="1100" dirty="0"/>
          </a:p>
        </p:txBody>
      </p:sp>
      <p:sp>
        <p:nvSpPr>
          <p:cNvPr id="147" name="Shape 23">
            <a:extLst>
              <a:ext uri="{FF2B5EF4-FFF2-40B4-BE49-F238E27FC236}">
                <a16:creationId xmlns:a16="http://schemas.microsoft.com/office/drawing/2014/main" id="{CE673E01-85AD-2268-D0F8-47179D35FDAF}"/>
              </a:ext>
            </a:extLst>
          </p:cNvPr>
          <p:cNvSpPr/>
          <p:nvPr/>
        </p:nvSpPr>
        <p:spPr>
          <a:xfrm>
            <a:off x="5623560" y="4306824"/>
            <a:ext cx="5897880" cy="841248"/>
          </a:xfrm>
          <a:prstGeom prst="roundRect">
            <a:avLst>
              <a:gd name="adj" fmla="val 8696"/>
            </a:avLst>
          </a:prstGeom>
          <a:solidFill>
            <a:srgbClr val="3E241A"/>
          </a:solidFill>
          <a:ln/>
        </p:spPr>
      </p:sp>
      <p:sp>
        <p:nvSpPr>
          <p:cNvPr id="149" name="Shape 24">
            <a:extLst>
              <a:ext uri="{FF2B5EF4-FFF2-40B4-BE49-F238E27FC236}">
                <a16:creationId xmlns:a16="http://schemas.microsoft.com/office/drawing/2014/main" id="{0EA9188F-C0CE-CB2C-0336-F1584CD0A202}"/>
              </a:ext>
            </a:extLst>
          </p:cNvPr>
          <p:cNvSpPr/>
          <p:nvPr/>
        </p:nvSpPr>
        <p:spPr>
          <a:xfrm>
            <a:off x="5852160" y="4608576"/>
            <a:ext cx="237744" cy="23774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51" name="Text 25">
            <a:extLst>
              <a:ext uri="{FF2B5EF4-FFF2-40B4-BE49-F238E27FC236}">
                <a16:creationId xmlns:a16="http://schemas.microsoft.com/office/drawing/2014/main" id="{1E1B234E-9E59-08A0-2431-8D7A87773594}"/>
              </a:ext>
            </a:extLst>
          </p:cNvPr>
          <p:cNvSpPr/>
          <p:nvPr/>
        </p:nvSpPr>
        <p:spPr>
          <a:xfrm>
            <a:off x="6263640" y="4416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1400" dirty="0"/>
          </a:p>
        </p:txBody>
      </p:sp>
      <p:sp>
        <p:nvSpPr>
          <p:cNvPr id="153" name="Text 26">
            <a:extLst>
              <a:ext uri="{FF2B5EF4-FFF2-40B4-BE49-F238E27FC236}">
                <a16:creationId xmlns:a16="http://schemas.microsoft.com/office/drawing/2014/main" id="{54519DD4-4101-B451-ED51-CC8C247314C9}"/>
              </a:ext>
            </a:extLst>
          </p:cNvPr>
          <p:cNvSpPr/>
          <p:nvPr/>
        </p:nvSpPr>
        <p:spPr>
          <a:xfrm>
            <a:off x="6263640" y="47457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· soft · slow-pour language</a:t>
            </a:r>
            <a:endParaRPr lang="en-US" sz="1100" dirty="0"/>
          </a:p>
        </p:txBody>
      </p:sp>
      <p:sp>
        <p:nvSpPr>
          <p:cNvPr id="155" name="Shape 27">
            <a:extLst>
              <a:ext uri="{FF2B5EF4-FFF2-40B4-BE49-F238E27FC236}">
                <a16:creationId xmlns:a16="http://schemas.microsoft.com/office/drawing/2014/main" id="{7FC4E8AA-7AF5-EBDC-0F6F-BEC05B91D63A}"/>
              </a:ext>
            </a:extLst>
          </p:cNvPr>
          <p:cNvSpPr/>
          <p:nvPr/>
        </p:nvSpPr>
        <p:spPr>
          <a:xfrm>
            <a:off x="5623560" y="5294376"/>
            <a:ext cx="5897880" cy="841248"/>
          </a:xfrm>
          <a:prstGeom prst="roundRect">
            <a:avLst>
              <a:gd name="adj" fmla="val 8696"/>
            </a:avLst>
          </a:prstGeom>
          <a:solidFill>
            <a:srgbClr val="3E241A"/>
          </a:solidFill>
          <a:ln/>
        </p:spPr>
      </p:sp>
      <p:sp>
        <p:nvSpPr>
          <p:cNvPr id="157" name="Shape 28">
            <a:extLst>
              <a:ext uri="{FF2B5EF4-FFF2-40B4-BE49-F238E27FC236}">
                <a16:creationId xmlns:a16="http://schemas.microsoft.com/office/drawing/2014/main" id="{63B74BBB-D012-5BCE-C114-69B7879D72F9}"/>
              </a:ext>
            </a:extLst>
          </p:cNvPr>
          <p:cNvSpPr/>
          <p:nvPr/>
        </p:nvSpPr>
        <p:spPr>
          <a:xfrm>
            <a:off x="5852160" y="5596128"/>
            <a:ext cx="237744" cy="237744"/>
          </a:xfrm>
          <a:prstGeom prst="ellipse">
            <a:avLst/>
          </a:prstGeom>
          <a:solidFill>
            <a:srgbClr val="84B59F"/>
          </a:solidFill>
          <a:ln/>
        </p:spPr>
      </p:sp>
      <p:sp>
        <p:nvSpPr>
          <p:cNvPr id="159" name="Text 29">
            <a:extLst>
              <a:ext uri="{FF2B5EF4-FFF2-40B4-BE49-F238E27FC236}">
                <a16:creationId xmlns:a16="http://schemas.microsoft.com/office/drawing/2014/main" id="{ACF38952-A76F-19F6-7D57-8C5A1BF449AA}"/>
              </a:ext>
            </a:extLst>
          </p:cNvPr>
          <p:cNvSpPr/>
          <p:nvPr/>
        </p:nvSpPr>
        <p:spPr>
          <a:xfrm>
            <a:off x="6263640" y="5404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400" dirty="0"/>
          </a:p>
        </p:txBody>
      </p:sp>
      <p:sp>
        <p:nvSpPr>
          <p:cNvPr id="161" name="Text 30">
            <a:extLst>
              <a:ext uri="{FF2B5EF4-FFF2-40B4-BE49-F238E27FC236}">
                <a16:creationId xmlns:a16="http://schemas.microsoft.com/office/drawing/2014/main" id="{C8CCF3DC-5317-6A80-CD28-0E47FE2145DA}"/>
              </a:ext>
            </a:extLst>
          </p:cNvPr>
          <p:cNvSpPr/>
          <p:nvPr/>
        </p:nvSpPr>
        <p:spPr>
          <a:xfrm>
            <a:off x="6263640" y="5733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serif · decaf &amp; herbal first</a:t>
            </a:r>
            <a:endParaRPr lang="en-US" sz="1100" dirty="0"/>
          </a:p>
        </p:txBody>
      </p:sp>
      <p:sp>
        <p:nvSpPr>
          <p:cNvPr id="163" name="Text 31">
            <a:extLst>
              <a:ext uri="{FF2B5EF4-FFF2-40B4-BE49-F238E27FC236}">
                <a16:creationId xmlns:a16="http://schemas.microsoft.com/office/drawing/2014/main" id="{8E817BD8-5B98-85D8-659A-7A729B5ECE9D}"/>
              </a:ext>
            </a:extLst>
          </p:cNvPr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this earns beyond the cup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500116" cy="1691640"/>
          </a:xfrm>
          <a:prstGeom prst="roundRect">
            <a:avLst>
              <a:gd name="adj" fmla="val 5405"/>
            </a:avLst>
          </a:prstGeom>
          <a:solidFill>
            <a:srgbClr val="F7F3EE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194560"/>
            <a:ext cx="685800" cy="68580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7" name="Image 0" descr="/home/claude/nudge-cafe/icons/chair_esp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35000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reservations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2258568"/>
            <a:ext cx="42656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premium for guaranteed Focus-desk or Date-corner booking at peak hours.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1636" y="1691640"/>
            <a:ext cx="5500116" cy="1691640"/>
          </a:xfrm>
          <a:prstGeom prst="roundRect">
            <a:avLst>
              <a:gd name="adj" fmla="val 5405"/>
            </a:avLst>
          </a:prstGeom>
          <a:solidFill>
            <a:srgbClr val="F7F3EE"/>
          </a:solidFill>
          <a:ln/>
        </p:spPr>
      </p:sp>
      <p:sp>
        <p:nvSpPr>
          <p:cNvPr id="11" name="Shape 8"/>
          <p:cNvSpPr/>
          <p:nvPr/>
        </p:nvSpPr>
        <p:spPr>
          <a:xfrm>
            <a:off x="6432804" y="2194560"/>
            <a:ext cx="685800" cy="68580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2" name="Image 1" descr="/home/claude/nudge-cafe/icons/store_espres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235000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3196" y="187452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&amp; corporate plans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83196" y="2258568"/>
            <a:ext cx="42656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subscriptions for universities and offices wanting a real quiet-focus space, not just wifi.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5500116" cy="1691640"/>
          </a:xfrm>
          <a:prstGeom prst="roundRect">
            <a:avLst>
              <a:gd name="adj" fmla="val 5405"/>
            </a:avLst>
          </a:prstGeom>
          <a:solidFill>
            <a:srgbClr val="F7F3EE"/>
          </a:solidFill>
          <a:ln/>
        </p:spPr>
      </p:sp>
      <p:sp>
        <p:nvSpPr>
          <p:cNvPr id="16" name="Shape 12"/>
          <p:cNvSpPr/>
          <p:nvPr/>
        </p:nvSpPr>
        <p:spPr>
          <a:xfrm>
            <a:off x="658368" y="4160520"/>
            <a:ext cx="685800" cy="68580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7" name="Image 2" descr="/home/claude/nudge-cafe/icons/lightbulb_espres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31596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8404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licensing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4224528"/>
            <a:ext cx="42656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the zone design system and check-in software to independent café owners.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31636" y="3657600"/>
            <a:ext cx="5500116" cy="1691640"/>
          </a:xfrm>
          <a:prstGeom prst="roundRect">
            <a:avLst>
              <a:gd name="adj" fmla="val 5405"/>
            </a:avLst>
          </a:prstGeom>
          <a:solidFill>
            <a:srgbClr val="F7F3EE"/>
          </a:solidFill>
          <a:ln/>
        </p:spPr>
      </p:sp>
      <p:sp>
        <p:nvSpPr>
          <p:cNvPr id="21" name="Shape 16"/>
          <p:cNvSpPr/>
          <p:nvPr/>
        </p:nvSpPr>
        <p:spPr>
          <a:xfrm>
            <a:off x="6432804" y="4160520"/>
            <a:ext cx="685800" cy="68580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22" name="Image 3" descr="/home/claude/nudge-cafe/icons/chartline_espress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315968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83196" y="38404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trend reports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283196" y="4224528"/>
            <a:ext cx="42656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anonymized mood-and-consumption trend reports sold to beverage brands — never individual data.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fast-premiumizing café market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no personalization play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0312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15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Mordor Intelligence (cafés &amp; bars, 2026), Research and Markets (specialty coffee, 2025-31)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62940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is in the room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29400" y="25603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7F3EE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6151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(CCD, Starbucks)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28986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everywhere — zero personalization.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29400" y="33832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7F3EE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34381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roasters (Blue Tokai, Third Wave)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37216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coffee — still one room for everyone.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629400" y="420624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7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4261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Co-working cafés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12280" y="45445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zones — but assigned by the customer, not by evidence.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29400" y="50292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3B2317"/>
          </a:solidFill>
          <a:ln/>
        </p:spPr>
      </p:sp>
      <p:sp>
        <p:nvSpPr>
          <p:cNvPr id="18" name="Text 15"/>
          <p:cNvSpPr/>
          <p:nvPr/>
        </p:nvSpPr>
        <p:spPr>
          <a:xfrm>
            <a:off x="6812280" y="5084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12280" y="53675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 + designed zones + a feedback loop that keeps tuning itself.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campus café to a design franchise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75304" cy="4114800"/>
          </a:xfrm>
          <a:prstGeom prst="roundRect">
            <a:avLst>
              <a:gd name="adj" fmla="val 2558"/>
            </a:avLst>
          </a:prstGeom>
          <a:solidFill>
            <a:srgbClr val="F7F3EE"/>
          </a:solidFill>
          <a:ln/>
        </p:spPr>
      </p:sp>
      <p:sp>
        <p:nvSpPr>
          <p:cNvPr id="6" name="Shape 4"/>
          <p:cNvSpPr/>
          <p:nvPr/>
        </p:nvSpPr>
        <p:spPr>
          <a:xfrm>
            <a:off x="1833372" y="2286000"/>
            <a:ext cx="822960" cy="82296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7" name="Image 0" descr="/home/claude/nudge-cafe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252" y="2468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café near a campus (Gandhinagar). QR check-in, manually built zones, direct customer feedback.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32504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06824" y="1920240"/>
            <a:ext cx="3575304" cy="4114800"/>
          </a:xfrm>
          <a:prstGeom prst="roundRect">
            <a:avLst>
              <a:gd name="adj" fmla="val 2558"/>
            </a:avLst>
          </a:prstGeom>
          <a:solidFill>
            <a:srgbClr val="F7F3EE"/>
          </a:solidFill>
          <a:ln/>
        </p:spPr>
      </p:sp>
      <p:sp>
        <p:nvSpPr>
          <p:cNvPr id="12" name="Shape 9"/>
          <p:cNvSpPr/>
          <p:nvPr/>
        </p:nvSpPr>
        <p:spPr>
          <a:xfrm>
            <a:off x="5682996" y="2286000"/>
            <a:ext cx="822960" cy="822960"/>
          </a:xfrm>
          <a:prstGeom prst="ellipse">
            <a:avLst/>
          </a:prstGeom>
          <a:solidFill>
            <a:srgbClr val="3B2317"/>
          </a:solidFill>
          <a:ln/>
        </p:spPr>
      </p:sp>
      <p:pic>
        <p:nvPicPr>
          <p:cNvPr id="13" name="Image 1" descr="/home/claude/nudge-cafe/icons/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2468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5424" y="333756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Scale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81144" y="384048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4A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app, loyalty history across visits, 2–3 city expansion, rules engine upgraded with real usage data.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882128" y="37033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156448" y="1920240"/>
            <a:ext cx="3575304" cy="4114800"/>
          </a:xfrm>
          <a:prstGeom prst="roundRect">
            <a:avLst>
              <a:gd name="adj" fmla="val 2558"/>
            </a:avLst>
          </a:prstGeom>
          <a:solidFill>
            <a:srgbClr val="3B2317"/>
          </a:solidFill>
          <a:ln/>
        </p:spPr>
      </p:sp>
      <p:sp>
        <p:nvSpPr>
          <p:cNvPr id="18" name="Shape 14"/>
          <p:cNvSpPr/>
          <p:nvPr/>
        </p:nvSpPr>
        <p:spPr>
          <a:xfrm>
            <a:off x="9532620" y="2286000"/>
            <a:ext cx="822960" cy="822960"/>
          </a:xfrm>
          <a:prstGeom prst="ellipse">
            <a:avLst/>
          </a:prstGeom>
          <a:solidFill>
            <a:srgbClr val="E8630A"/>
          </a:solidFill>
          <a:ln/>
        </p:spPr>
      </p:sp>
      <p:pic>
        <p:nvPicPr>
          <p:cNvPr id="19" name="Image 2" descr="/home/claude/nudge-cafe/icons/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24688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85048" y="333756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License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30768" y="3840480"/>
            <a:ext cx="3026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Design Playbook licensed to independent cafés; corporate &amp; campus wellness partnerships nationwide.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837B0-62B9-093F-1D37-D69AA3A8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>
            <a:extLst>
              <a:ext uri="{FF2B5EF4-FFF2-40B4-BE49-F238E27FC236}">
                <a16:creationId xmlns:a16="http://schemas.microsoft.com/office/drawing/2014/main" id="{343D3587-6F32-87F0-A762-4C8E76AA5609}"/>
              </a:ext>
            </a:extLst>
          </p:cNvPr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BC14CF1-1CEB-0369-AD1C-71C7F8935AF9}"/>
              </a:ext>
            </a:extLst>
          </p:cNvPr>
          <p:cNvSpPr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Riding two lines that are already going up</a:t>
            </a:r>
            <a:endParaRPr lang="en-US" sz="28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EC1429BA-8E5A-01FF-C10E-07CAE5ACBAD8}"/>
              </a:ext>
            </a:extLst>
          </p:cNvPr>
          <p:cNvSpPr/>
          <p:nvPr/>
        </p:nvSpPr>
        <p:spPr>
          <a:xfrm>
            <a:off x="640080" y="182880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EAE0D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6236BAB5-CFFE-7F16-B811-C66A83F03DF7}"/>
              </a:ext>
            </a:extLst>
          </p:cNvPr>
          <p:cNvSpPr/>
          <p:nvPr/>
        </p:nvSpPr>
        <p:spPr>
          <a:xfrm>
            <a:off x="91440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12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Third-wave &amp; experiential cafés</a:t>
            </a:r>
            <a:endParaRPr lang="en-US" sz="16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87AAA23-4440-1D9B-6BA4-EC41B291ED27}"/>
              </a:ext>
            </a:extLst>
          </p:cNvPr>
          <p:cNvSpPr/>
          <p:nvPr/>
        </p:nvSpPr>
        <p:spPr>
          <a:xfrm>
            <a:off x="914400" y="25603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culture has shifted from "a coffee" to "an experience worth queueing for." Customers already pay a premium for curated space — we make the curation personal instead of aesthetic-only.</a:t>
            </a:r>
            <a:endParaRPr lang="en-US" sz="12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71C4898F-D60B-FBAC-125D-2BA349D368AC}"/>
              </a:ext>
            </a:extLst>
          </p:cNvPr>
          <p:cNvSpPr/>
          <p:nvPr/>
        </p:nvSpPr>
        <p:spPr>
          <a:xfrm>
            <a:off x="914400" y="4023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FIRST SEGMENT</a:t>
            </a:r>
            <a:endParaRPr lang="en-US" sz="10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584D23E4-5256-FC05-0E19-C42F3F1DF2DE}"/>
              </a:ext>
            </a:extLst>
          </p:cNvPr>
          <p:cNvSpPr/>
          <p:nvPr/>
        </p:nvSpPr>
        <p:spPr>
          <a:xfrm>
            <a:off x="914400" y="431596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4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towns &amp; tech campuses — dense, mood-varied daily footfall (deadlines, group projects, dates, downtime) in walking distance of one site.</a:t>
            </a:r>
            <a:endParaRPr lang="en-US" sz="125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5C92D2A1-DA1B-2BDA-CB62-14251E500282}"/>
              </a:ext>
            </a:extLst>
          </p:cNvPr>
          <p:cNvSpPr/>
          <p:nvPr/>
        </p:nvSpPr>
        <p:spPr>
          <a:xfrm>
            <a:off x="6172200" y="1828800"/>
            <a:ext cx="5349240" cy="3977640"/>
          </a:xfrm>
          <a:prstGeom prst="roundRect">
            <a:avLst>
              <a:gd name="adj" fmla="val 2759"/>
            </a:avLst>
          </a:prstGeom>
          <a:solidFill>
            <a:srgbClr val="2E1A12"/>
          </a:solidFill>
          <a:ln/>
        </p:spPr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5618EFF8-3391-0249-09F8-D03C2074343A}"/>
              </a:ext>
            </a:extLst>
          </p:cNvPr>
          <p:cNvSpPr/>
          <p:nvPr/>
        </p:nvSpPr>
        <p:spPr>
          <a:xfrm>
            <a:off x="644652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design &amp; wellness spend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ABCAF19-7C63-06A2-D64B-BB91BC4209BA}"/>
              </a:ext>
            </a:extLst>
          </p:cNvPr>
          <p:cNvSpPr/>
          <p:nvPr/>
        </p:nvSpPr>
        <p:spPr>
          <a:xfrm>
            <a:off x="6446520" y="25603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Nudge-based products — apps, workplaces, retail layouts — are a growing line item for anyone trying to shape behavior without mandates. A café is the lowest-friction place to prove the model works, publicly, every day.</a:t>
            </a:r>
            <a:endParaRPr lang="en-US" sz="125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611A47DD-5596-FB7A-417C-5D442CD7D50C}"/>
              </a:ext>
            </a:extLst>
          </p:cNvPr>
          <p:cNvSpPr/>
          <p:nvPr/>
        </p:nvSpPr>
        <p:spPr>
          <a:xfrm>
            <a:off x="6446520" y="43891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COMPOUNDS</a:t>
            </a:r>
            <a:endParaRPr lang="en-US" sz="10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4ABC5AD8-3A41-E7B5-32E3-73AB93B88102}"/>
              </a:ext>
            </a:extLst>
          </p:cNvPr>
          <p:cNvSpPr/>
          <p:nvPr/>
        </p:nvSpPr>
        <p:spPr>
          <a:xfrm>
            <a:off x="6446520" y="4681728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 is a labeled data point — mood in, seat chosen, drink ordered, dwell time out — sharpening the model for the next customer and the next licensee.</a:t>
            </a:r>
            <a:endParaRPr lang="en-US" sz="125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BF1CA4EC-D3B2-BEA0-EA66-2497DDAB856B}"/>
              </a:ext>
            </a:extLst>
          </p:cNvPr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7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5073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24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E41C2-C8BC-E6E2-EBE5-AB70FE28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2728C33-1FEC-D89E-E0AA-9EDF10D449A3}"/>
              </a:ext>
            </a:extLst>
          </p:cNvPr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A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0F55446-862B-50FF-7770-A293E805165E}"/>
              </a:ext>
            </a:extLst>
          </p:cNvPr>
          <p:cNvSpPr/>
          <p:nvPr/>
        </p:nvSpPr>
        <p:spPr>
          <a:xfrm>
            <a:off x="640080" y="8229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ED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designs a room. No one designs it around you.</a:t>
            </a:r>
            <a:endParaRPr lang="en-US" sz="2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2AC0007-B4A8-86C2-5508-4FCE9CD50902}"/>
              </a:ext>
            </a:extLst>
          </p:cNvPr>
          <p:cNvSpPr/>
          <p:nvPr/>
        </p:nvSpPr>
        <p:spPr>
          <a:xfrm>
            <a:off x="1463040" y="2057400"/>
            <a:ext cx="4114800" cy="4114800"/>
          </a:xfrm>
          <a:prstGeom prst="rect">
            <a:avLst/>
          </a:prstGeom>
          <a:solidFill>
            <a:srgbClr val="3E241A"/>
          </a:solidFill>
          <a:ln w="12700">
            <a:solidFill>
              <a:srgbClr val="5A4030"/>
            </a:solidFill>
            <a:prstDash val="solid"/>
          </a:ln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80F338B-49B4-0E2A-8A03-46785E4C9B30}"/>
              </a:ext>
            </a:extLst>
          </p:cNvPr>
          <p:cNvSpPr/>
          <p:nvPr/>
        </p:nvSpPr>
        <p:spPr>
          <a:xfrm>
            <a:off x="1463040" y="4114800"/>
            <a:ext cx="4114800" cy="0"/>
          </a:xfrm>
          <a:prstGeom prst="line">
            <a:avLst/>
          </a:prstGeom>
          <a:noFill/>
          <a:ln w="12700">
            <a:solidFill>
              <a:srgbClr val="5A4030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91FF47E8-8213-1C53-8F27-5AD93B6E2F0A}"/>
              </a:ext>
            </a:extLst>
          </p:cNvPr>
          <p:cNvSpPr/>
          <p:nvPr/>
        </p:nvSpPr>
        <p:spPr>
          <a:xfrm>
            <a:off x="3520440" y="2057400"/>
            <a:ext cx="0" cy="4114800"/>
          </a:xfrm>
          <a:prstGeom prst="line">
            <a:avLst/>
          </a:prstGeom>
          <a:noFill/>
          <a:ln w="12700">
            <a:solidFill>
              <a:srgbClr val="5A403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59593D8-F40D-0903-9F5D-BA9FAB24A498}"/>
              </a:ext>
            </a:extLst>
          </p:cNvPr>
          <p:cNvSpPr/>
          <p:nvPr/>
        </p:nvSpPr>
        <p:spPr>
          <a:xfrm>
            <a:off x="14630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AMBIENCE-DESIGNED</a:t>
            </a:r>
            <a:endParaRPr lang="en-US" sz="1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A0EB4E8-FAFC-3083-EA5B-B8DEFBAC7130}"/>
              </a:ext>
            </a:extLst>
          </p:cNvPr>
          <p:cNvSpPr/>
          <p:nvPr/>
        </p:nvSpPr>
        <p:spPr>
          <a:xfrm>
            <a:off x="1463040" y="6217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LAYOUT</a:t>
            </a:r>
            <a:endParaRPr lang="en-US" sz="1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8F43845-9404-A75B-0991-68402A36B591}"/>
              </a:ext>
            </a:extLst>
          </p:cNvPr>
          <p:cNvSpPr/>
          <p:nvPr/>
        </p:nvSpPr>
        <p:spPr>
          <a:xfrm rot="16200000">
            <a:off x="320040" y="2057400"/>
            <a:ext cx="1051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D71F72C-A7E8-C7E0-C6AD-AA2C8629C24B}"/>
              </a:ext>
            </a:extLst>
          </p:cNvPr>
          <p:cNvSpPr/>
          <p:nvPr/>
        </p:nvSpPr>
        <p:spPr>
          <a:xfrm>
            <a:off x="4590288" y="5184648"/>
            <a:ext cx="164592" cy="164592"/>
          </a:xfrm>
          <a:prstGeom prst="ellipse">
            <a:avLst/>
          </a:prstGeom>
          <a:solidFill>
            <a:srgbClr val="8A716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787FD17-D219-64B8-01DA-6A39536F6FF6}"/>
              </a:ext>
            </a:extLst>
          </p:cNvPr>
          <p:cNvSpPr/>
          <p:nvPr/>
        </p:nvSpPr>
        <p:spPr>
          <a:xfrm>
            <a:off x="3666744" y="53583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Third-wave design cafés</a:t>
            </a:r>
            <a:endParaRPr lang="en-US" sz="10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6FFE56B-5D95-FEEB-0D34-EFD7FFC860F7}"/>
              </a:ext>
            </a:extLst>
          </p:cNvPr>
          <p:cNvSpPr/>
          <p:nvPr/>
        </p:nvSpPr>
        <p:spPr>
          <a:xfrm>
            <a:off x="1997964" y="2592324"/>
            <a:ext cx="164592" cy="164592"/>
          </a:xfrm>
          <a:prstGeom prst="ellipse">
            <a:avLst/>
          </a:prstGeom>
          <a:solidFill>
            <a:srgbClr val="8A7160"/>
          </a:solidFill>
          <a:ln/>
        </p:spPr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8FBF246-586D-E7EB-0017-B7396765C0C7}"/>
              </a:ext>
            </a:extLst>
          </p:cNvPr>
          <p:cNvSpPr/>
          <p:nvPr/>
        </p:nvSpPr>
        <p:spPr>
          <a:xfrm>
            <a:off x="1074420" y="27660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coffee shops</a:t>
            </a:r>
            <a:endParaRPr lang="en-US" sz="105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3904B69F-6168-0CC6-02DB-F1E35B2C113E}"/>
              </a:ext>
            </a:extLst>
          </p:cNvPr>
          <p:cNvSpPr/>
          <p:nvPr/>
        </p:nvSpPr>
        <p:spPr>
          <a:xfrm>
            <a:off x="2820924" y="4649724"/>
            <a:ext cx="164592" cy="164592"/>
          </a:xfrm>
          <a:prstGeom prst="ellipse">
            <a:avLst/>
          </a:prstGeom>
          <a:solidFill>
            <a:srgbClr val="8A7160"/>
          </a:solidFill>
          <a:ln/>
        </p:spPr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08BF0256-62A7-2AD2-5821-49A17A654E7C}"/>
              </a:ext>
            </a:extLst>
          </p:cNvPr>
          <p:cNvSpPr/>
          <p:nvPr/>
        </p:nvSpPr>
        <p:spPr>
          <a:xfrm>
            <a:off x="1897380" y="48234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Coworking cafés</a:t>
            </a:r>
            <a:endParaRPr lang="en-US" sz="105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38EDA9F2-F871-8532-FF87-CE4B11C351C5}"/>
              </a:ext>
            </a:extLst>
          </p:cNvPr>
          <p:cNvSpPr/>
          <p:nvPr/>
        </p:nvSpPr>
        <p:spPr>
          <a:xfrm>
            <a:off x="4626864" y="2546604"/>
            <a:ext cx="256032" cy="256032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ED5D8B93-4896-24F1-F23B-010AC115CEEE}"/>
              </a:ext>
            </a:extLst>
          </p:cNvPr>
          <p:cNvSpPr/>
          <p:nvPr/>
        </p:nvSpPr>
        <p:spPr>
          <a:xfrm>
            <a:off x="3749040" y="28209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120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E7E7E172-2CFD-E37A-675A-0C4D103B30A6}"/>
              </a:ext>
            </a:extLst>
          </p:cNvPr>
          <p:cNvSpPr/>
          <p:nvPr/>
        </p:nvSpPr>
        <p:spPr>
          <a:xfrm>
            <a:off x="6949440" y="329184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4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r>
              <a:rPr lang="en-US" sz="13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design-forward cafés compete on aesthetics; personalization tools live in apps, not physical space. We’re the only one putting the two on the same floor plan.</a:t>
            </a:r>
            <a:endParaRPr lang="en-US" sz="13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9FC4874C-B11D-5179-C083-53A2AA403CCC}"/>
              </a:ext>
            </a:extLst>
          </p:cNvPr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9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6166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 who already ran this experiment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828800" cy="1828800"/>
          </a:xfrm>
          <a:prstGeom prst="ellipse">
            <a:avLst/>
          </a:prstGeom>
          <a:solidFill>
            <a:srgbClr val="3B231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B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Nikita Sharma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411480" cy="41148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0" name="Image 0" descr="/home/claude/nudge-cafe/icons/flask_esp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020824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977640" y="18745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Science, DA-IICT (Dhirubhai Ambani University) — B.Sc. Statistics, MS University of Baroda.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83280" y="2971800"/>
            <a:ext cx="411480" cy="41148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3" name="Image 1" descr="/home/claude/nudge-cafe/icons/flask_esp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07238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2926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a 320-student mixed-methods study on caffeine consumption — survey design, iodometric chemical assays, and non-parametric statistics (Wilcoxon, Kruskal-Wallis, Jonckheere-Terpstra).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383280" y="4023360"/>
            <a:ext cx="411480" cy="41148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6" name="Image 2" descr="/home/claude/nudge-cafe/icons/flask_esp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412394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extended it into a full machine-learning pipeline: regression, classification, PCA, clustering, and a deployed Streamlit intake calculator.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3383280" y="5074920"/>
            <a:ext cx="411480" cy="411480"/>
          </a:xfrm>
          <a:prstGeom prst="ellipse">
            <a:avLst/>
          </a:prstGeom>
          <a:solidFill>
            <a:srgbClr val="EFE3D3"/>
          </a:solidFill>
          <a:ln/>
        </p:spPr>
      </p:sp>
      <p:pic>
        <p:nvPicPr>
          <p:cNvPr id="19" name="Image 3" descr="/home/claude/nudge-cafe/icons/flask_esp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17550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50292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researching digital consumption and student wellbeing under Prof. Bhaskar Chaudhury — the same behavioral-data instincts this café is built on.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63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i="1" dirty="0">
                <a:solidFill>
                  <a:srgbClr val="D8C7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design the room around the person, not the other way around.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8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seed round to fund the pilot café build-out, the check-in software, and one year of runway to prove the zone system on real foot traffic before licensing it further.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4A2E1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8679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café build-out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1788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Seating, lighting, signage for all four zones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7091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4A2E1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7823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0932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kiosk, scoring engine, feedback loop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562356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4A2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6967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team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007608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to validate before scaling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78240" y="2103120"/>
            <a:ext cx="365760" cy="365760"/>
          </a:xfrm>
          <a:prstGeom prst="ellipse">
            <a:avLst/>
          </a:prstGeom>
          <a:solidFill>
            <a:srgbClr val="4B3F72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20848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0" y="2651760"/>
            <a:ext cx="365760" cy="365760"/>
          </a:xfrm>
          <a:prstGeom prst="ellipse">
            <a:avLst/>
          </a:prstGeom>
          <a:solidFill>
            <a:srgbClr val="E8546B"/>
          </a:solidFill>
          <a:ln/>
        </p:spPr>
      </p:sp>
      <p:sp>
        <p:nvSpPr>
          <p:cNvPr id="18" name="Text 16"/>
          <p:cNvSpPr/>
          <p:nvPr/>
        </p:nvSpPr>
        <p:spPr>
          <a:xfrm>
            <a:off x="9281160" y="2633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78240" y="3200400"/>
            <a:ext cx="365760" cy="3657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78240" y="3749040"/>
            <a:ext cx="365760" cy="365760"/>
          </a:xfrm>
          <a:prstGeom prst="ellipse">
            <a:avLst/>
          </a:prstGeom>
          <a:solidFill>
            <a:srgbClr val="3F6659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3730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7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NUDGE CAFÉ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1480</Words>
  <Application>Microsoft Office PowerPoint</Application>
  <PresentationFormat>Widescreen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 S</cp:lastModifiedBy>
  <cp:revision>2</cp:revision>
  <dcterms:created xsi:type="dcterms:W3CDTF">2026-07-16T03:22:59Z</dcterms:created>
  <dcterms:modified xsi:type="dcterms:W3CDTF">2026-07-16T04:55:08Z</dcterms:modified>
</cp:coreProperties>
</file>